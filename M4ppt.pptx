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60" r:id="rId3"/>
    <p:sldId id="267" r:id="rId4"/>
    <p:sldId id="269" r:id="rId5"/>
    <p:sldId id="270" r:id="rId6"/>
    <p:sldId id="273" r:id="rId7"/>
    <p:sldId id="271" r:id="rId8"/>
    <p:sldId id="272" r:id="rId9"/>
    <p:sldId id="266" r:id="rId1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66FF8B8-9D5C-4F1A-BA7E-00848C8DA608}">
          <p14:sldIdLst>
            <p14:sldId id="256"/>
            <p14:sldId id="260"/>
            <p14:sldId id="267"/>
            <p14:sldId id="269"/>
            <p14:sldId id="270"/>
            <p14:sldId id="273"/>
            <p14:sldId id="271"/>
            <p14:sldId id="272"/>
            <p14:sldId id="266"/>
          </p14:sldIdLst>
        </p14:section>
        <p14:section name="Untitled Section" id="{521814DF-8F26-480D-AF35-0F1BA2DEDD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6D6"/>
    <a:srgbClr val="FFFFFF"/>
    <a:srgbClr val="6993AC"/>
    <a:srgbClr val="5FB3E5"/>
    <a:srgbClr val="3A7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4776AC-F6FF-4D25-B78E-8BCD67556C7C}" v="112" dt="2026-04-24T17:43:02.2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41" autoAdjust="0"/>
  </p:normalViewPr>
  <p:slideViewPr>
    <p:cSldViewPr snapToGrid="0">
      <p:cViewPr>
        <p:scale>
          <a:sx n="100" d="100"/>
          <a:sy n="100" d="100"/>
        </p:scale>
        <p:origin x="1085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35b41f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35b41f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100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l Templat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25" name="Google Shape;2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32" name="Google Shape;3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5" name="Google Shape;3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pic>
        <p:nvPicPr>
          <p:cNvPr id="43" name="Google Shape;4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47" name="Google Shape;4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11450" y="4733600"/>
            <a:ext cx="304150" cy="3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l="34491" t="7982" b="9298"/>
          <a:stretch/>
        </p:blipFill>
        <p:spPr>
          <a:xfrm>
            <a:off x="-94988" y="0"/>
            <a:ext cx="4073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150760" y="1195551"/>
            <a:ext cx="2666843" cy="8637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>
              <a:buSzPts val="990"/>
            </a:pPr>
            <a:r>
              <a:rPr lang="en-IN" sz="2000" b="1" dirty="0">
                <a:solidFill>
                  <a:srgbClr val="FFFFFF"/>
                </a:solidFill>
              </a:rPr>
              <a:t>Inventory Service</a:t>
            </a:r>
            <a:endParaRPr sz="2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975" y="1555875"/>
            <a:ext cx="4887674" cy="17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>
            <a:spLocks noGrp="1"/>
          </p:cNvSpPr>
          <p:nvPr>
            <p:ph type="title" idx="4294967295"/>
          </p:nvPr>
        </p:nvSpPr>
        <p:spPr>
          <a:xfrm>
            <a:off x="111351" y="2204763"/>
            <a:ext cx="327156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990"/>
            </a:pPr>
            <a:r>
              <a:rPr lang="en-IN" sz="1600" dirty="0">
                <a:solidFill>
                  <a:srgbClr val="FFFFFF"/>
                </a:solidFill>
              </a:rPr>
              <a:t>Simple Backend API</a:t>
            </a:r>
            <a:br>
              <a:rPr lang="en-IN" sz="1600" dirty="0">
                <a:solidFill>
                  <a:srgbClr val="FFFFFF"/>
                </a:solidFill>
              </a:rPr>
            </a:br>
            <a:endParaRPr sz="16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87900" y="4448050"/>
            <a:ext cx="23886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2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26722-4BF5-810B-95B3-4CB181FA38C9}"/>
              </a:ext>
            </a:extLst>
          </p:cNvPr>
          <p:cNvSpPr txBox="1"/>
          <p:nvPr/>
        </p:nvSpPr>
        <p:spPr>
          <a:xfrm>
            <a:off x="111351" y="2922967"/>
            <a:ext cx="4601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- Rudra Sharma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6DF44-E7BF-3B6B-9F14-AEE596B45CF7}"/>
              </a:ext>
            </a:extLst>
          </p:cNvPr>
          <p:cNvSpPr txBox="1"/>
          <p:nvPr/>
        </p:nvSpPr>
        <p:spPr>
          <a:xfrm>
            <a:off x="150760" y="3457807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 Project | October 2026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AB15-581D-18F3-3CF0-8B965F05DD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44500"/>
            <a:ext cx="16576675" cy="504825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dirty="0"/>
              <a:t>Project overview</a:t>
            </a:r>
            <a:endParaRPr lang="en-IN" b="0" u="sn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oogle Shape;90;p15">
            <a:extLst>
              <a:ext uri="{FF2B5EF4-FFF2-40B4-BE49-F238E27FC236}">
                <a16:creationId xmlns:a16="http://schemas.microsoft.com/office/drawing/2014/main" id="{13CC007A-DA87-D19F-E337-281EB95DBE6C}"/>
              </a:ext>
            </a:extLst>
          </p:cNvPr>
          <p:cNvGrpSpPr/>
          <p:nvPr/>
        </p:nvGrpSpPr>
        <p:grpSpPr>
          <a:xfrm>
            <a:off x="7923665" y="176321"/>
            <a:ext cx="849300" cy="874500"/>
            <a:chOff x="8098925" y="1094575"/>
            <a:chExt cx="849300" cy="874500"/>
          </a:xfrm>
        </p:grpSpPr>
        <p:sp>
          <p:nvSpPr>
            <p:cNvPr id="6" name="Google Shape;91;p15">
              <a:extLst>
                <a:ext uri="{FF2B5EF4-FFF2-40B4-BE49-F238E27FC236}">
                  <a16:creationId xmlns:a16="http://schemas.microsoft.com/office/drawing/2014/main" id="{2302E203-68F1-FB27-8CF5-1D5EE814AAEF}"/>
                </a:ext>
              </a:extLst>
            </p:cNvPr>
            <p:cNvSpPr/>
            <p:nvPr/>
          </p:nvSpPr>
          <p:spPr>
            <a:xfrm>
              <a:off x="8098925" y="1094575"/>
              <a:ext cx="849300" cy="87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7" name="Google Shape;92;p15">
              <a:extLst>
                <a:ext uri="{FF2B5EF4-FFF2-40B4-BE49-F238E27FC236}">
                  <a16:creationId xmlns:a16="http://schemas.microsoft.com/office/drawing/2014/main" id="{992D5852-5263-1F71-1EFE-D8B621962E0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37225" y="1245475"/>
              <a:ext cx="572700" cy="572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E7EED1D-D16A-BA8C-C790-B2CA5CE4489A}"/>
              </a:ext>
            </a:extLst>
          </p:cNvPr>
          <p:cNvSpPr txBox="1"/>
          <p:nvPr/>
        </p:nvSpPr>
        <p:spPr>
          <a:xfrm>
            <a:off x="-509777" y="897017"/>
            <a:ext cx="288087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11</a:t>
            </a:r>
          </a:p>
          <a:p>
            <a:pPr algn="ctr"/>
            <a:r>
              <a:rPr lang="en-IN" sz="2400" dirty="0"/>
              <a:t>  API endpoint</a:t>
            </a:r>
          </a:p>
          <a:p>
            <a:pPr algn="ctr"/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0C7F6-144D-4FA6-AAAA-DB309F6B6AB1}"/>
              </a:ext>
            </a:extLst>
          </p:cNvPr>
          <p:cNvSpPr txBox="1"/>
          <p:nvPr/>
        </p:nvSpPr>
        <p:spPr>
          <a:xfrm>
            <a:off x="318757" y="2178244"/>
            <a:ext cx="1537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C2340"/>
                </a:solidFill>
              </a:rPr>
              <a:t>What it is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0797B-0943-F79D-D95B-1704AFC50CFA}"/>
              </a:ext>
            </a:extLst>
          </p:cNvPr>
          <p:cNvSpPr txBox="1"/>
          <p:nvPr/>
        </p:nvSpPr>
        <p:spPr>
          <a:xfrm>
            <a:off x="369412" y="2495951"/>
            <a:ext cx="2152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334055"/>
                </a:solidFill>
              </a:rPr>
              <a:t>A backend to manage inventory items. Users sign up, log in and get a JWT token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966700-8F3C-AB78-1D4F-70920A546C46}"/>
              </a:ext>
            </a:extLst>
          </p:cNvPr>
          <p:cNvSpPr txBox="1"/>
          <p:nvPr/>
        </p:nvSpPr>
        <p:spPr>
          <a:xfrm>
            <a:off x="2005746" y="894010"/>
            <a:ext cx="25138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/>
              <a:t>2</a:t>
            </a:r>
          </a:p>
          <a:p>
            <a:pPr algn="ctr"/>
            <a:r>
              <a:rPr lang="en-IN" sz="2400" dirty="0"/>
              <a:t>Database Tables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5712A-B576-73FE-A307-D16D9D36AEB5}"/>
              </a:ext>
            </a:extLst>
          </p:cNvPr>
          <p:cNvSpPr txBox="1"/>
          <p:nvPr/>
        </p:nvSpPr>
        <p:spPr>
          <a:xfrm>
            <a:off x="2829335" y="2212255"/>
            <a:ext cx="227264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C2340"/>
                </a:solidFill>
              </a:rPr>
              <a:t>Who can do what</a:t>
            </a:r>
          </a:p>
          <a:p>
            <a:r>
              <a:rPr lang="en-US" sz="1800" dirty="0">
                <a:solidFill>
                  <a:srgbClr val="334055"/>
                </a:solidFill>
              </a:rPr>
              <a:t>  Staff, inventory     managers and one admin have different rights on items and users.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2A4F13-8B8A-7D03-4E43-D4421AFD8B31}"/>
              </a:ext>
            </a:extLst>
          </p:cNvPr>
          <p:cNvSpPr txBox="1"/>
          <p:nvPr/>
        </p:nvSpPr>
        <p:spPr>
          <a:xfrm>
            <a:off x="5560221" y="2248584"/>
            <a:ext cx="334071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0C2340"/>
                </a:solidFill>
              </a:rPr>
              <a:t>How it runs</a:t>
            </a:r>
          </a:p>
          <a:p>
            <a:r>
              <a:rPr lang="en-US" sz="1800" dirty="0">
                <a:solidFill>
                  <a:srgbClr val="334055"/>
                </a:solidFill>
              </a:rPr>
              <a:t> One command (docker compose up) starts PostgreSQL, </a:t>
            </a:r>
            <a:r>
              <a:rPr lang="en-US" sz="1800" dirty="0" err="1">
                <a:solidFill>
                  <a:srgbClr val="334055"/>
                </a:solidFill>
              </a:rPr>
              <a:t>pgAdmin</a:t>
            </a:r>
            <a:r>
              <a:rPr lang="en-US" sz="1800" dirty="0">
                <a:solidFill>
                  <a:srgbClr val="334055"/>
                </a:solidFill>
              </a:rPr>
              <a:t> and the API.</a:t>
            </a:r>
          </a:p>
          <a:p>
            <a:endParaRPr lang="en-IN" sz="1800" b="1" dirty="0">
              <a:solidFill>
                <a:srgbClr val="0C2340"/>
              </a:solidFill>
            </a:endParaRP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3CB665-B6FE-8E9F-0D33-5262BC4F265F}"/>
              </a:ext>
            </a:extLst>
          </p:cNvPr>
          <p:cNvSpPr txBox="1"/>
          <p:nvPr/>
        </p:nvSpPr>
        <p:spPr>
          <a:xfrm>
            <a:off x="4624427" y="894009"/>
            <a:ext cx="17091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     3</a:t>
            </a:r>
          </a:p>
          <a:p>
            <a:r>
              <a:rPr lang="en-IN" sz="2400" dirty="0"/>
              <a:t>User Roles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9D116F-CDC1-BC7C-EE47-D9AE70E5B40C}"/>
              </a:ext>
            </a:extLst>
          </p:cNvPr>
          <p:cNvSpPr txBox="1"/>
          <p:nvPr/>
        </p:nvSpPr>
        <p:spPr>
          <a:xfrm>
            <a:off x="6364933" y="894008"/>
            <a:ext cx="24080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                    </a:t>
            </a:r>
            <a:r>
              <a:rPr lang="en-IN" sz="3600" dirty="0"/>
              <a:t>3</a:t>
            </a:r>
          </a:p>
          <a:p>
            <a:r>
              <a:rPr lang="en-IN" sz="2400" dirty="0"/>
              <a:t>Automated tests</a:t>
            </a:r>
          </a:p>
        </p:txBody>
      </p:sp>
    </p:spTree>
    <p:extLst>
      <p:ext uri="{BB962C8B-B14F-4D97-AF65-F5344CB8AC3E}">
        <p14:creationId xmlns:p14="http://schemas.microsoft.com/office/powerpoint/2010/main" val="290211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8650CE-5DE5-651B-51B0-2A114507961C}"/>
              </a:ext>
            </a:extLst>
          </p:cNvPr>
          <p:cNvSpPr txBox="1">
            <a:spLocks/>
          </p:cNvSpPr>
          <p:nvPr/>
        </p:nvSpPr>
        <p:spPr>
          <a:xfrm>
            <a:off x="311700" y="548595"/>
            <a:ext cx="8520600" cy="572700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400" dirty="0">
                <a:solidFill>
                  <a:schemeClr val="tx1"/>
                </a:solidFill>
              </a:rPr>
              <a:t>Tech stack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3899D-0F57-8F68-7596-AD98237088B2}"/>
              </a:ext>
            </a:extLst>
          </p:cNvPr>
          <p:cNvSpPr txBox="1"/>
          <p:nvPr/>
        </p:nvSpPr>
        <p:spPr>
          <a:xfrm>
            <a:off x="432816" y="1566672"/>
            <a:ext cx="17327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dirty="0" err="1">
                <a:solidFill>
                  <a:srgbClr val="0C2340"/>
                </a:solidFill>
                <a:latin typeface="Arial"/>
              </a:rPr>
              <a:t>FastAPI</a:t>
            </a:r>
            <a:endParaRPr sz="1800" b="1" dirty="0">
              <a:solidFill>
                <a:srgbClr val="0C2340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E0E1C-6C35-9CE8-287E-E3441A28740A}"/>
              </a:ext>
            </a:extLst>
          </p:cNvPr>
          <p:cNvSpPr txBox="1"/>
          <p:nvPr/>
        </p:nvSpPr>
        <p:spPr>
          <a:xfrm>
            <a:off x="432816" y="1840992"/>
            <a:ext cx="1732788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dirty="0">
                <a:solidFill>
                  <a:srgbClr val="334055"/>
                </a:solidFill>
                <a:latin typeface="Arial"/>
              </a:rPr>
              <a:t>Web framework. Swagger docs are generated automatically.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2970F-4DDD-3FE9-C5E6-22280FE501C3}"/>
              </a:ext>
            </a:extLst>
          </p:cNvPr>
          <p:cNvSpPr txBox="1"/>
          <p:nvPr/>
        </p:nvSpPr>
        <p:spPr>
          <a:xfrm>
            <a:off x="2604516" y="1566672"/>
            <a:ext cx="17327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340"/>
                </a:solidFill>
                <a:latin typeface="Arial"/>
              </a:rPr>
              <a:t>PostgreSQL 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A89ED-97C0-AE11-FF50-93AACBC4F699}"/>
              </a:ext>
            </a:extLst>
          </p:cNvPr>
          <p:cNvSpPr txBox="1"/>
          <p:nvPr/>
        </p:nvSpPr>
        <p:spPr>
          <a:xfrm>
            <a:off x="2604516" y="1840992"/>
            <a:ext cx="173278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dirty="0">
                <a:solidFill>
                  <a:srgbClr val="334055"/>
                </a:solidFill>
                <a:latin typeface="Arial"/>
              </a:rPr>
              <a:t>Main database. Runs in Docker.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2083E8-8BD9-6621-62D4-25BC9A11CAA2}"/>
              </a:ext>
            </a:extLst>
          </p:cNvPr>
          <p:cNvSpPr txBox="1"/>
          <p:nvPr/>
        </p:nvSpPr>
        <p:spPr>
          <a:xfrm>
            <a:off x="4776216" y="1566672"/>
            <a:ext cx="17327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340"/>
                </a:solidFill>
                <a:latin typeface="Arial"/>
              </a:rPr>
              <a:t>SQLAlchemy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E8DB44-44F9-88E8-3ACE-F263DEFD752E}"/>
              </a:ext>
            </a:extLst>
          </p:cNvPr>
          <p:cNvSpPr txBox="1"/>
          <p:nvPr/>
        </p:nvSpPr>
        <p:spPr>
          <a:xfrm>
            <a:off x="4776216" y="1840992"/>
            <a:ext cx="173278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dirty="0">
                <a:solidFill>
                  <a:srgbClr val="334055"/>
                </a:solidFill>
                <a:latin typeface="Arial"/>
              </a:rPr>
              <a:t>ORM for queries.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E8CDAB-0E3F-BD2F-E388-F0B4FBCE82D7}"/>
              </a:ext>
            </a:extLst>
          </p:cNvPr>
          <p:cNvSpPr txBox="1"/>
          <p:nvPr/>
        </p:nvSpPr>
        <p:spPr>
          <a:xfrm>
            <a:off x="6947916" y="1566672"/>
            <a:ext cx="17327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340"/>
                </a:solidFill>
                <a:latin typeface="Arial"/>
              </a:rPr>
              <a:t>Pydantic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375B35-100D-A005-7128-FE9AE54BC7C0}"/>
              </a:ext>
            </a:extLst>
          </p:cNvPr>
          <p:cNvSpPr txBox="1"/>
          <p:nvPr/>
        </p:nvSpPr>
        <p:spPr>
          <a:xfrm>
            <a:off x="6947916" y="1840992"/>
            <a:ext cx="1732788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334055"/>
                </a:solidFill>
                <a:latin typeface="Arial"/>
              </a:rPr>
              <a:t>Validates every request and shapes every response.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3E8597-DC8D-303B-B6DD-B4D43FAA879B}"/>
              </a:ext>
            </a:extLst>
          </p:cNvPr>
          <p:cNvSpPr txBox="1"/>
          <p:nvPr/>
        </p:nvSpPr>
        <p:spPr>
          <a:xfrm>
            <a:off x="432816" y="3285744"/>
            <a:ext cx="17327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340"/>
                </a:solidFill>
                <a:latin typeface="Arial"/>
              </a:rPr>
              <a:t>JWT + Google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1221D0-E867-E521-1174-19A200799777}"/>
              </a:ext>
            </a:extLst>
          </p:cNvPr>
          <p:cNvSpPr txBox="1"/>
          <p:nvPr/>
        </p:nvSpPr>
        <p:spPr>
          <a:xfrm>
            <a:off x="432816" y="3560064"/>
            <a:ext cx="1732788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334055"/>
                </a:solidFill>
                <a:latin typeface="Arial"/>
              </a:rPr>
              <a:t>Token login with bcrypt passwords and Google Sign-In.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DEC93B-617C-6B85-8391-26524441471C}"/>
              </a:ext>
            </a:extLst>
          </p:cNvPr>
          <p:cNvSpPr txBox="1"/>
          <p:nvPr/>
        </p:nvSpPr>
        <p:spPr>
          <a:xfrm>
            <a:off x="2604516" y="3285744"/>
            <a:ext cx="173278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dirty="0">
                <a:solidFill>
                  <a:srgbClr val="0C2340"/>
                </a:solidFill>
                <a:latin typeface="Arial"/>
              </a:rPr>
              <a:t>Docker Compose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93A85F-742C-D6A8-1EFE-7B2D54544B5F}"/>
              </a:ext>
            </a:extLst>
          </p:cNvPr>
          <p:cNvSpPr txBox="1"/>
          <p:nvPr/>
        </p:nvSpPr>
        <p:spPr>
          <a:xfrm>
            <a:off x="2604516" y="3835357"/>
            <a:ext cx="1732788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dirty="0" err="1">
                <a:solidFill>
                  <a:srgbClr val="334055"/>
                </a:solidFill>
                <a:latin typeface="Arial"/>
              </a:rPr>
              <a:t>db</a:t>
            </a:r>
            <a:r>
              <a:rPr sz="1800" b="0" dirty="0">
                <a:solidFill>
                  <a:srgbClr val="334055"/>
                </a:solidFill>
                <a:latin typeface="Arial"/>
              </a:rPr>
              <a:t> + </a:t>
            </a:r>
            <a:r>
              <a:rPr sz="1800" b="0" dirty="0" err="1">
                <a:solidFill>
                  <a:srgbClr val="334055"/>
                </a:solidFill>
                <a:latin typeface="Arial"/>
              </a:rPr>
              <a:t>pgAdmin</a:t>
            </a:r>
            <a:r>
              <a:rPr sz="1800" b="0" dirty="0">
                <a:solidFill>
                  <a:srgbClr val="334055"/>
                </a:solidFill>
                <a:latin typeface="Arial"/>
              </a:rPr>
              <a:t> + web with one command.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ECA7C7-8F78-74A1-542B-99C69577C4B2}"/>
              </a:ext>
            </a:extLst>
          </p:cNvPr>
          <p:cNvSpPr txBox="1"/>
          <p:nvPr/>
        </p:nvSpPr>
        <p:spPr>
          <a:xfrm>
            <a:off x="4776216" y="3285744"/>
            <a:ext cx="17327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340"/>
                </a:solidFill>
                <a:latin typeface="Arial"/>
              </a:rPr>
              <a:t>pytest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441048-497A-B785-B828-8AD641563C52}"/>
              </a:ext>
            </a:extLst>
          </p:cNvPr>
          <p:cNvSpPr txBox="1"/>
          <p:nvPr/>
        </p:nvSpPr>
        <p:spPr>
          <a:xfrm>
            <a:off x="4776216" y="3560064"/>
            <a:ext cx="1732788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334055"/>
                </a:solidFill>
                <a:latin typeface="Arial"/>
              </a:rPr>
              <a:t>3 tests on a temporary SQLite database.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5465BA-7E94-86A3-B48D-2BB4ED6B0F81}"/>
              </a:ext>
            </a:extLst>
          </p:cNvPr>
          <p:cNvSpPr txBox="1"/>
          <p:nvPr/>
        </p:nvSpPr>
        <p:spPr>
          <a:xfrm>
            <a:off x="6947916" y="3285744"/>
            <a:ext cx="17327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C2340"/>
                </a:solidFill>
                <a:latin typeface="Arial"/>
              </a:rPr>
              <a:t>Postman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FF177A-1E75-8B33-ADD7-BC929ED69A8E}"/>
              </a:ext>
            </a:extLst>
          </p:cNvPr>
          <p:cNvSpPr txBox="1"/>
          <p:nvPr/>
        </p:nvSpPr>
        <p:spPr>
          <a:xfrm>
            <a:off x="6947916" y="3560064"/>
            <a:ext cx="1732788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334055"/>
                </a:solidFill>
                <a:latin typeface="Arial"/>
              </a:rPr>
              <a:t>Collection with test scripts for every request.</a:t>
            </a:r>
          </a:p>
        </p:txBody>
      </p:sp>
    </p:spTree>
    <p:extLst>
      <p:ext uri="{BB962C8B-B14F-4D97-AF65-F5344CB8AC3E}">
        <p14:creationId xmlns:p14="http://schemas.microsoft.com/office/powerpoint/2010/main" val="3167427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2479D-7FF0-53B4-CD23-0BA934BEA672}"/>
              </a:ext>
            </a:extLst>
          </p:cNvPr>
          <p:cNvSpPr txBox="1">
            <a:spLocks/>
          </p:cNvSpPr>
          <p:nvPr/>
        </p:nvSpPr>
        <p:spPr>
          <a:xfrm>
            <a:off x="382820" y="191025"/>
            <a:ext cx="8520600" cy="572700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400" dirty="0">
                <a:solidFill>
                  <a:schemeClr val="tx1"/>
                </a:solidFill>
              </a:rPr>
              <a:t>Architecture Flow</a:t>
            </a:r>
          </a:p>
        </p:txBody>
      </p:sp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E35C6774-3052-140F-BD18-A2DFEF98E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513" y="3008375"/>
            <a:ext cx="292608" cy="292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46613D-DE0F-0845-724D-709F9710DA89}"/>
              </a:ext>
            </a:extLst>
          </p:cNvPr>
          <p:cNvSpPr txBox="1"/>
          <p:nvPr/>
        </p:nvSpPr>
        <p:spPr>
          <a:xfrm>
            <a:off x="4179923" y="0"/>
            <a:ext cx="4931158" cy="5216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dirty="0"/>
              <a:t>[ Client (Postman / Browser) ]</a:t>
            </a:r>
          </a:p>
          <a:p>
            <a:r>
              <a:rPr lang="en-IN" sz="900" dirty="0"/>
              <a:t>                 │</a:t>
            </a:r>
          </a:p>
          <a:p>
            <a:r>
              <a:rPr lang="en-IN" sz="900" dirty="0"/>
              <a:t>                 │ 1. HTTP Request (e.g., POST /items) + JWT Token</a:t>
            </a:r>
          </a:p>
          <a:p>
            <a:r>
              <a:rPr lang="en-IN" sz="900" dirty="0"/>
              <a:t>                 ▼</a:t>
            </a:r>
          </a:p>
          <a:p>
            <a:r>
              <a:rPr lang="en-IN" sz="900" dirty="0"/>
              <a:t>  [ app/main.py (The Main Gate) ] </a:t>
            </a:r>
          </a:p>
          <a:p>
            <a:r>
              <a:rPr lang="en-IN" sz="900" dirty="0"/>
              <a:t>                 │ (</a:t>
            </a:r>
            <a:r>
              <a:rPr lang="en-IN" sz="900" dirty="0" err="1"/>
              <a:t>FastAPI</a:t>
            </a:r>
            <a:r>
              <a:rPr lang="en-IN" sz="900" dirty="0"/>
              <a:t> receives the request and checks the URL)</a:t>
            </a:r>
          </a:p>
          <a:p>
            <a:r>
              <a:rPr lang="en-IN" sz="900" dirty="0"/>
              <a:t>                 │</a:t>
            </a:r>
          </a:p>
          <a:p>
            <a:r>
              <a:rPr lang="en-IN" sz="900" dirty="0"/>
              <a:t>                 ├──► 2. GUARDS &amp; SETUP (Dependencies) ────────────┐</a:t>
            </a:r>
          </a:p>
          <a:p>
            <a:r>
              <a:rPr lang="en-IN" sz="900" dirty="0"/>
              <a:t>                 │                                                 │</a:t>
            </a:r>
          </a:p>
          <a:p>
            <a:r>
              <a:rPr lang="en-IN" sz="900" dirty="0"/>
              <a:t>                 │    🛡️ app/core/security.py                      │</a:t>
            </a:r>
          </a:p>
          <a:p>
            <a:r>
              <a:rPr lang="en-IN" sz="900" dirty="0"/>
              <a:t>                 │    (Checks if the token is valid and checks role) │</a:t>
            </a:r>
          </a:p>
          <a:p>
            <a:r>
              <a:rPr lang="en-IN" sz="900" dirty="0"/>
              <a:t>                 │                                                 │</a:t>
            </a:r>
          </a:p>
          <a:p>
            <a:r>
              <a:rPr lang="en-IN" sz="900" dirty="0"/>
              <a:t>                 │    🗄️ app/database/database.py                    │</a:t>
            </a:r>
          </a:p>
          <a:p>
            <a:r>
              <a:rPr lang="en-IN" sz="900" dirty="0"/>
              <a:t>                 │    (Opens a connection to the database)         │</a:t>
            </a:r>
          </a:p>
          <a:p>
            <a:r>
              <a:rPr lang="en-IN" sz="900" dirty="0"/>
              <a:t>                 │                                                 │</a:t>
            </a:r>
          </a:p>
          <a:p>
            <a:r>
              <a:rPr lang="en-IN" sz="900" dirty="0"/>
              <a:t>                 ◄─────────────────────────────────────────────────┘</a:t>
            </a:r>
          </a:p>
          <a:p>
            <a:r>
              <a:rPr lang="en-IN" sz="900" dirty="0"/>
              <a:t>                 │ </a:t>
            </a:r>
          </a:p>
          <a:p>
            <a:r>
              <a:rPr lang="en-IN" sz="900" dirty="0"/>
              <a:t>                 │ 3. (If the token is valid, the request goes inside)</a:t>
            </a:r>
          </a:p>
          <a:p>
            <a:r>
              <a:rPr lang="en-IN" sz="900" dirty="0"/>
              <a:t>                 ▼</a:t>
            </a:r>
          </a:p>
          <a:p>
            <a:r>
              <a:rPr lang="en-IN" sz="900" dirty="0"/>
              <a:t>  [ app/routers/items.py (The Manager) ]</a:t>
            </a:r>
          </a:p>
          <a:p>
            <a:r>
              <a:rPr lang="en-IN" sz="900" dirty="0"/>
              <a:t>                 │</a:t>
            </a:r>
          </a:p>
          <a:p>
            <a:r>
              <a:rPr lang="en-IN" sz="900" dirty="0"/>
              <a:t>                 │ 4. Input Check</a:t>
            </a:r>
          </a:p>
          <a:p>
            <a:r>
              <a:rPr lang="en-IN" sz="900" dirty="0"/>
              <a:t>                 ├──► [ app/schemas/schemas.py ] (</a:t>
            </a:r>
            <a:r>
              <a:rPr lang="en-IN" sz="900" dirty="0" err="1"/>
              <a:t>Pydantic</a:t>
            </a:r>
            <a:r>
              <a:rPr lang="en-IN" sz="900" dirty="0"/>
              <a:t>)</a:t>
            </a:r>
          </a:p>
          <a:p>
            <a:r>
              <a:rPr lang="en-IN" sz="900" dirty="0"/>
              <a:t>                 ◄──  (Checks if the incoming data format is correct, like price is a number)</a:t>
            </a:r>
          </a:p>
          <a:p>
            <a:r>
              <a:rPr lang="en-IN" sz="900" dirty="0"/>
              <a:t>                 │</a:t>
            </a:r>
          </a:p>
          <a:p>
            <a:r>
              <a:rPr lang="en-IN" sz="900" dirty="0"/>
              <a:t>                 │ 5. Database Save</a:t>
            </a:r>
          </a:p>
          <a:p>
            <a:r>
              <a:rPr lang="en-IN" sz="900" dirty="0"/>
              <a:t>                 ├──► [ app/models/models.py ] (</a:t>
            </a:r>
            <a:r>
              <a:rPr lang="en-IN" sz="900" dirty="0" err="1"/>
              <a:t>SQLAlchemy</a:t>
            </a:r>
            <a:r>
              <a:rPr lang="en-IN" sz="900" dirty="0"/>
              <a:t>)</a:t>
            </a:r>
          </a:p>
          <a:p>
            <a:r>
              <a:rPr lang="en-IN" sz="900" dirty="0"/>
              <a:t>                 ◄──  (Talks to PostgreSQL/SQLite to actually save the new item)</a:t>
            </a:r>
          </a:p>
          <a:p>
            <a:r>
              <a:rPr lang="en-IN" sz="900" dirty="0"/>
              <a:t>                 │</a:t>
            </a:r>
          </a:p>
          <a:p>
            <a:r>
              <a:rPr lang="en-IN" sz="900" dirty="0"/>
              <a:t>                 │ 6. Output Check</a:t>
            </a:r>
          </a:p>
          <a:p>
            <a:r>
              <a:rPr lang="en-IN" sz="900" dirty="0"/>
              <a:t>                 ├──► [ app/schemas/schemas.py ] (</a:t>
            </a:r>
            <a:r>
              <a:rPr lang="en-IN" sz="900" dirty="0" err="1"/>
              <a:t>Pydantic</a:t>
            </a:r>
            <a:r>
              <a:rPr lang="en-IN" sz="900" dirty="0"/>
              <a:t>)</a:t>
            </a:r>
          </a:p>
          <a:p>
            <a:r>
              <a:rPr lang="en-IN" sz="900" dirty="0"/>
              <a:t>                 ◄──  (Cleans up the data to send back, making sure passwords aren't leaked)</a:t>
            </a:r>
          </a:p>
          <a:p>
            <a:r>
              <a:rPr lang="en-IN" sz="900" dirty="0"/>
              <a:t>                 │</a:t>
            </a:r>
          </a:p>
          <a:p>
            <a:r>
              <a:rPr lang="en-IN" sz="900" dirty="0"/>
              <a:t>                 │ 7. Final Response</a:t>
            </a:r>
          </a:p>
          <a:p>
            <a:r>
              <a:rPr lang="en-IN" sz="900" dirty="0"/>
              <a:t>                 ▼</a:t>
            </a:r>
          </a:p>
          <a:p>
            <a:r>
              <a:rPr lang="en-IN" sz="900" dirty="0"/>
              <a:t>  [ Client (Postman / Browser) ]</a:t>
            </a:r>
          </a:p>
          <a:p>
            <a:r>
              <a:rPr lang="en-IN" sz="900" dirty="0"/>
              <a:t>       (Receives HTTP 200 OK: "Item created successfully!")</a:t>
            </a:r>
          </a:p>
        </p:txBody>
      </p:sp>
    </p:spTree>
    <p:extLst>
      <p:ext uri="{BB962C8B-B14F-4D97-AF65-F5344CB8AC3E}">
        <p14:creationId xmlns:p14="http://schemas.microsoft.com/office/powerpoint/2010/main" val="93567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F130-E2E5-A9C6-B0EB-6607E181282D}"/>
              </a:ext>
            </a:extLst>
          </p:cNvPr>
          <p:cNvSpPr txBox="1">
            <a:spLocks/>
          </p:cNvSpPr>
          <p:nvPr/>
        </p:nvSpPr>
        <p:spPr>
          <a:xfrm>
            <a:off x="312504" y="217966"/>
            <a:ext cx="8520600" cy="572700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dirty="0">
                <a:solidFill>
                  <a:schemeClr val="tx1"/>
                </a:solidFill>
              </a:rPr>
              <a:t>Database design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94A43C-7038-7CE0-7EAC-7C035A023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055430"/>
              </p:ext>
            </p:extLst>
          </p:nvPr>
        </p:nvGraphicFramePr>
        <p:xfrm>
          <a:off x="175260" y="597079"/>
          <a:ext cx="4396740" cy="2354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0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485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users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Type / rule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95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INTEGER, PK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95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VARCHAR(</a:t>
                      </a:r>
                      <a:r>
                        <a:rPr lang="en-IN" sz="1050" b="0" dirty="0">
                          <a:solidFill>
                            <a:srgbClr val="334055"/>
                          </a:solidFill>
                          <a:latin typeface="Arial"/>
                        </a:rPr>
                        <a:t>25</a:t>
                      </a:r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), 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95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email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VARCHAR(</a:t>
                      </a:r>
                      <a:r>
                        <a:rPr lang="en-IN" sz="1050" b="0" dirty="0">
                          <a:solidFill>
                            <a:srgbClr val="334055"/>
                          </a:solidFill>
                          <a:latin typeface="Arial"/>
                        </a:rPr>
                        <a:t>50</a:t>
                      </a:r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), UNIQUE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5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phone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VARCHAR(20), optional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95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password_hash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NULL for Google users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95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admin / manager / staff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6BF4DF-F1E0-053D-635F-F199E6971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91665"/>
              </p:ext>
            </p:extLst>
          </p:nvPr>
        </p:nvGraphicFramePr>
        <p:xfrm>
          <a:off x="5198448" y="597079"/>
          <a:ext cx="3055536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items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Type / rule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0C2340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INTEGER, PK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VARCHAR(</a:t>
                      </a:r>
                      <a:r>
                        <a:rPr lang="en-IN" sz="1050" b="0" dirty="0">
                          <a:solidFill>
                            <a:srgbClr val="334055"/>
                          </a:solidFill>
                          <a:latin typeface="Arial"/>
                        </a:rPr>
                        <a:t>50</a:t>
                      </a:r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), indexed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INTEGER, &gt;= 0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NUMERIC(10,2)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created_by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FK to users.id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57F16E-B0E8-ABAA-F34F-0738C084F797}"/>
              </a:ext>
            </a:extLst>
          </p:cNvPr>
          <p:cNvSpPr txBox="1"/>
          <p:nvPr/>
        </p:nvSpPr>
        <p:spPr>
          <a:xfrm>
            <a:off x="4984367" y="2727115"/>
            <a:ext cx="8156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1400" b="1" dirty="0">
                <a:solidFill>
                  <a:srgbClr val="0587D8"/>
                </a:solidFill>
                <a:latin typeface="Arial"/>
              </a:rPr>
              <a:t>Keys and relations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EE1BD-7176-83FD-13CB-01FD1B2763B2}"/>
              </a:ext>
            </a:extLst>
          </p:cNvPr>
          <p:cNvSpPr txBox="1"/>
          <p:nvPr/>
        </p:nvSpPr>
        <p:spPr>
          <a:xfrm>
            <a:off x="4984367" y="2985505"/>
            <a:ext cx="3269617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dirty="0">
                <a:solidFill>
                  <a:srgbClr val="1E8E3E"/>
                </a:solidFill>
                <a:latin typeface="Arial"/>
              </a:rPr>
              <a:t> </a:t>
            </a:r>
            <a:r>
              <a:rPr sz="1100" b="0" dirty="0">
                <a:solidFill>
                  <a:srgbClr val="334055"/>
                </a:solidFill>
                <a:latin typeface="Arial"/>
              </a:rPr>
              <a:t>One user creates many items (</a:t>
            </a:r>
            <a:r>
              <a:rPr sz="1100" b="0" dirty="0" err="1">
                <a:solidFill>
                  <a:srgbClr val="334055"/>
                </a:solidFill>
                <a:latin typeface="Arial"/>
              </a:rPr>
              <a:t>items.created_by</a:t>
            </a:r>
            <a:r>
              <a:rPr sz="1100" b="0" dirty="0">
                <a:solidFill>
                  <a:srgbClr val="334055"/>
                </a:solidFill>
                <a:latin typeface="Arial"/>
              </a:rPr>
              <a:t> to users.id). A user who has items cannot be deleted.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3A276-6E0E-F360-1698-F0668897175B}"/>
              </a:ext>
            </a:extLst>
          </p:cNvPr>
          <p:cNvSpPr txBox="1"/>
          <p:nvPr/>
        </p:nvSpPr>
        <p:spPr>
          <a:xfrm>
            <a:off x="310896" y="3016282"/>
            <a:ext cx="1996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Roles and permissions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ACD7FE-29A9-478C-2AF0-C491C5926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68077"/>
              </p:ext>
            </p:extLst>
          </p:nvPr>
        </p:nvGraphicFramePr>
        <p:xfrm>
          <a:off x="310896" y="3346456"/>
          <a:ext cx="4504170" cy="164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545">
                <a:tc>
                  <a:txBody>
                    <a:bodyPr/>
                    <a:lstStyle/>
                    <a:p>
                      <a:r>
                        <a:rPr sz="800" b="1" dirty="0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staff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manager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54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C2340"/>
                          </a:solidFill>
                          <a:latin typeface="Arial"/>
                        </a:rPr>
                        <a:t>Sign up / log in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54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C2340"/>
                          </a:solidFill>
                          <a:latin typeface="Arial"/>
                        </a:rPr>
                        <a:t>Create and read items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54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C2340"/>
                          </a:solidFill>
                          <a:latin typeface="Arial"/>
                        </a:rPr>
                        <a:t>Update own items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54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C2340"/>
                          </a:solidFill>
                          <a:latin typeface="Arial"/>
                        </a:rPr>
                        <a:t>Update any item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055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54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C2340"/>
                          </a:solidFill>
                          <a:latin typeface="Arial"/>
                        </a:rPr>
                        <a:t>Delete items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055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54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C2340"/>
                          </a:solidFill>
                          <a:latin typeface="Arial"/>
                        </a:rPr>
                        <a:t>List users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055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055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54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C2340"/>
                          </a:solidFill>
                          <a:latin typeface="Arial"/>
                        </a:rPr>
                        <a:t>Change a user role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055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4055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E8E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90DB49-ED57-F039-9D4F-71758158B3EC}"/>
              </a:ext>
            </a:extLst>
          </p:cNvPr>
          <p:cNvSpPr txBox="1"/>
          <p:nvPr/>
        </p:nvSpPr>
        <p:spPr>
          <a:xfrm>
            <a:off x="4912791" y="3853923"/>
            <a:ext cx="34280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C2340"/>
                </a:solidFill>
              </a:rPr>
              <a:t>staff: </a:t>
            </a:r>
            <a:r>
              <a:rPr lang="en-US" dirty="0">
                <a:solidFill>
                  <a:srgbClr val="334055"/>
                </a:solidFill>
              </a:rPr>
              <a:t>default for everyone.  </a:t>
            </a:r>
            <a:r>
              <a:rPr lang="en-US" b="1" dirty="0">
                <a:solidFill>
                  <a:srgbClr val="0C2340"/>
                </a:solidFill>
              </a:rPr>
              <a:t>manager: </a:t>
            </a:r>
            <a:r>
              <a:rPr lang="en-US" dirty="0">
                <a:solidFill>
                  <a:srgbClr val="334055"/>
                </a:solidFill>
              </a:rPr>
              <a:t>promoted by admin with PATCH /users/{id}/role.  </a:t>
            </a:r>
            <a:r>
              <a:rPr lang="en-US" b="1" dirty="0">
                <a:solidFill>
                  <a:srgbClr val="0C2340"/>
                </a:solidFill>
              </a:rPr>
              <a:t>admin: </a:t>
            </a:r>
            <a:r>
              <a:rPr lang="en-US" dirty="0">
                <a:solidFill>
                  <a:srgbClr val="334055"/>
                </a:solidFill>
              </a:rPr>
              <a:t>only one, created from ADMIN_EMAIL and ADMIN_PASSWORD in .env.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49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A5AA8C-5882-ED5A-EC3A-95F70AC85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739"/>
            <a:ext cx="9144000" cy="450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686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35E44-5C17-66A1-544A-A497044057BB}"/>
              </a:ext>
            </a:extLst>
          </p:cNvPr>
          <p:cNvSpPr txBox="1">
            <a:spLocks/>
          </p:cNvSpPr>
          <p:nvPr/>
        </p:nvSpPr>
        <p:spPr>
          <a:xfrm>
            <a:off x="313308" y="243402"/>
            <a:ext cx="8520600" cy="572700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000" dirty="0">
                <a:solidFill>
                  <a:schemeClr val="tx1"/>
                </a:solidFill>
              </a:rPr>
              <a:t>API endpoints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4168DC-D9CA-79D1-78E3-4A094A99E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382432"/>
              </p:ext>
            </p:extLst>
          </p:nvPr>
        </p:nvGraphicFramePr>
        <p:xfrm>
          <a:off x="310092" y="639799"/>
          <a:ext cx="785006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</a:rPr>
                        <a:t>URL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/health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/auth/signup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/auth/login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public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/auth/google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public (Google page)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/items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any logged-in user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/items?page&amp;limit&amp;search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any logged-in user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/items/{id}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any logged-in user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/items/{id}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staff (own), manager, 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DELETE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/items/{id}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manager, admin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/users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023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2340"/>
                          </a:solidFill>
                          <a:latin typeface="Arial"/>
                        </a:rPr>
                        <a:t>PATCH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/users/{id}/role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055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34055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80DD032-2E8B-6415-1869-7C96A46912A0}"/>
              </a:ext>
            </a:extLst>
          </p:cNvPr>
          <p:cNvSpPr txBox="1"/>
          <p:nvPr/>
        </p:nvSpPr>
        <p:spPr>
          <a:xfrm>
            <a:off x="310092" y="3218407"/>
            <a:ext cx="1447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Tests: 3 passed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3B6043-F60A-3E45-4B12-7819A12A46A1}"/>
              </a:ext>
            </a:extLst>
          </p:cNvPr>
          <p:cNvSpPr txBox="1"/>
          <p:nvPr/>
        </p:nvSpPr>
        <p:spPr>
          <a:xfrm>
            <a:off x="3009418" y="428263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BE35928-AE27-81DA-50D5-C32B50ADD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021303"/>
              </p:ext>
            </p:extLst>
          </p:nvPr>
        </p:nvGraphicFramePr>
        <p:xfrm>
          <a:off x="311700" y="3526184"/>
          <a:ext cx="8522208" cy="1177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279"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What it proves</a:t>
                      </a:r>
                    </a:p>
                  </a:txBody>
                  <a:tcPr marL="73152" marR="73152" marT="27432" marB="27432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27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2340"/>
                          </a:solidFill>
                          <a:latin typeface="Arial"/>
                        </a:rPr>
                        <a:t>test_signup_and_login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4055"/>
                          </a:solidFill>
                          <a:latin typeface="Arial"/>
                        </a:rPr>
                        <a:t>201 signup, 409 duplicate email, token on login, 401 wrong password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27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2340"/>
                          </a:solidFill>
                          <a:latin typeface="Arial"/>
                        </a:rPr>
                        <a:t>test_item_crud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4055"/>
                          </a:solidFill>
                          <a:latin typeface="Arial"/>
                        </a:rPr>
                        <a:t>401 without token, create / read / update, 422 for negative quantity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27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C2340"/>
                          </a:solidFill>
                          <a:latin typeface="Arial"/>
                        </a:rPr>
                        <a:t>test_roles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34055"/>
                          </a:solidFill>
                          <a:latin typeface="Arial"/>
                        </a:rPr>
                        <a:t>staff delete gives 403, admin delete gives 204</a:t>
                      </a:r>
                    </a:p>
                  </a:txBody>
                  <a:tcPr marL="73152" marR="73152" marT="27432" marB="27432" anchor="ctr">
                    <a:solidFill>
                      <a:srgbClr val="EA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245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F032-8256-4880-5AC6-B07A6BF8AD5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dirty="0">
                <a:solidFill>
                  <a:schemeClr val="tx1"/>
                </a:solidFill>
              </a:rPr>
              <a:t>Google Sign-In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BB53E8-E1FF-D065-CEEA-53CFADEA7D4E}"/>
              </a:ext>
            </a:extLst>
          </p:cNvPr>
          <p:cNvSpPr txBox="1"/>
          <p:nvPr/>
        </p:nvSpPr>
        <p:spPr>
          <a:xfrm>
            <a:off x="450434" y="1014155"/>
            <a:ext cx="89976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Open /login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02F584-43C7-3A1D-DC73-1D464BA557F1}"/>
              </a:ext>
            </a:extLst>
          </p:cNvPr>
          <p:cNvSpPr txBox="1"/>
          <p:nvPr/>
        </p:nvSpPr>
        <p:spPr>
          <a:xfrm>
            <a:off x="372011" y="1503631"/>
            <a:ext cx="135696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dirty="0">
                <a:solidFill>
                  <a:srgbClr val="334055"/>
                </a:solidFill>
                <a:latin typeface="Arial"/>
              </a:rPr>
              <a:t>Page shows the Google button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D5526-4AA2-8A2A-8F30-8958F91E7408}"/>
              </a:ext>
            </a:extLst>
          </p:cNvPr>
          <p:cNvSpPr txBox="1"/>
          <p:nvPr/>
        </p:nvSpPr>
        <p:spPr>
          <a:xfrm>
            <a:off x="2170788" y="977016"/>
            <a:ext cx="89976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Google token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BA9DB-98D1-6B0E-95DD-C556C814F19B}"/>
              </a:ext>
            </a:extLst>
          </p:cNvPr>
          <p:cNvSpPr txBox="1"/>
          <p:nvPr/>
        </p:nvSpPr>
        <p:spPr>
          <a:xfrm>
            <a:off x="1942187" y="1467756"/>
            <a:ext cx="135696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>
                <a:solidFill>
                  <a:srgbClr val="334055"/>
                </a:solidFill>
                <a:latin typeface="Arial"/>
              </a:rPr>
              <a:t>User signs in, Google returns an ID token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2B1AE-D38A-0E72-92E1-3C29B59B5FD2}"/>
              </a:ext>
            </a:extLst>
          </p:cNvPr>
          <p:cNvSpPr txBox="1"/>
          <p:nvPr/>
        </p:nvSpPr>
        <p:spPr>
          <a:xfrm>
            <a:off x="3893515" y="942499"/>
            <a:ext cx="89976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C2340"/>
                </a:solidFill>
                <a:latin typeface="Arial"/>
              </a:rPr>
              <a:t>Send token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5C340-5D7E-9505-0893-F0CA9D3FC867}"/>
              </a:ext>
            </a:extLst>
          </p:cNvPr>
          <p:cNvSpPr txBox="1"/>
          <p:nvPr/>
        </p:nvSpPr>
        <p:spPr>
          <a:xfrm>
            <a:off x="3844900" y="1467756"/>
            <a:ext cx="135696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>
                <a:solidFill>
                  <a:srgbClr val="334055"/>
                </a:solidFill>
                <a:latin typeface="Arial"/>
              </a:rPr>
              <a:t>Browser posts the id_token to /auth/google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AD26E-E7EA-8ABE-F39B-A81EEDC95133}"/>
              </a:ext>
            </a:extLst>
          </p:cNvPr>
          <p:cNvSpPr txBox="1"/>
          <p:nvPr/>
        </p:nvSpPr>
        <p:spPr>
          <a:xfrm>
            <a:off x="5585635" y="1014155"/>
            <a:ext cx="89976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Verify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526DAF-0216-6F35-F61D-0841557016ED}"/>
              </a:ext>
            </a:extLst>
          </p:cNvPr>
          <p:cNvSpPr txBox="1"/>
          <p:nvPr/>
        </p:nvSpPr>
        <p:spPr>
          <a:xfrm>
            <a:off x="5544016" y="1467756"/>
            <a:ext cx="135696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dirty="0">
                <a:solidFill>
                  <a:srgbClr val="334055"/>
                </a:solidFill>
                <a:latin typeface="Arial"/>
              </a:rPr>
              <a:t>Server checks signature, expiry and client 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0DC4A0-664A-FE67-9DB0-A4CB5997CF81}"/>
              </a:ext>
            </a:extLst>
          </p:cNvPr>
          <p:cNvSpPr txBox="1"/>
          <p:nvPr/>
        </p:nvSpPr>
        <p:spPr>
          <a:xfrm>
            <a:off x="7555998" y="1014155"/>
            <a:ext cx="899769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Our JWT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7B147-6B3A-DC57-B6F1-747F424D6902}"/>
              </a:ext>
            </a:extLst>
          </p:cNvPr>
          <p:cNvSpPr txBox="1"/>
          <p:nvPr/>
        </p:nvSpPr>
        <p:spPr>
          <a:xfrm>
            <a:off x="7327399" y="1467756"/>
            <a:ext cx="135696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dirty="0">
                <a:solidFill>
                  <a:srgbClr val="334055"/>
                </a:solidFill>
                <a:latin typeface="Arial"/>
              </a:rPr>
              <a:t>User found or created as staff, JWT returned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4C53E5D-6E28-F09E-C19C-4ADA77D8F478}"/>
              </a:ext>
            </a:extLst>
          </p:cNvPr>
          <p:cNvSpPr txBox="1">
            <a:spLocks/>
          </p:cNvSpPr>
          <p:nvPr/>
        </p:nvSpPr>
        <p:spPr>
          <a:xfrm>
            <a:off x="263084" y="2104669"/>
            <a:ext cx="8520600" cy="572700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1FDAE7-3873-898A-4940-9865B637B18F}"/>
              </a:ext>
            </a:extLst>
          </p:cNvPr>
          <p:cNvSpPr txBox="1"/>
          <p:nvPr/>
        </p:nvSpPr>
        <p:spPr>
          <a:xfrm>
            <a:off x="571091" y="267736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tx1"/>
                </a:solidFill>
              </a:rPr>
              <a:t>Validation (</a:t>
            </a:r>
            <a:r>
              <a:rPr lang="en-IN" sz="2000" dirty="0" err="1">
                <a:solidFill>
                  <a:schemeClr val="tx1"/>
                </a:solidFill>
              </a:rPr>
              <a:t>Pydantic</a:t>
            </a:r>
            <a:r>
              <a:rPr lang="en-IN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F38AB7-6717-E9F9-9C32-F24CA02FAAD4}"/>
              </a:ext>
            </a:extLst>
          </p:cNvPr>
          <p:cNvSpPr txBox="1"/>
          <p:nvPr/>
        </p:nvSpPr>
        <p:spPr>
          <a:xfrm>
            <a:off x="671675" y="3027028"/>
            <a:ext cx="3749039" cy="1733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name </a:t>
            </a:r>
            <a:r>
              <a:rPr sz="1600" b="0" dirty="0">
                <a:solidFill>
                  <a:srgbClr val="334055"/>
                </a:solidFill>
                <a:latin typeface="Arial"/>
              </a:rPr>
              <a:t>1 to </a:t>
            </a:r>
            <a:r>
              <a:rPr lang="en-IN" sz="1600" dirty="0">
                <a:solidFill>
                  <a:srgbClr val="334055"/>
                </a:solidFill>
              </a:rPr>
              <a:t>50</a:t>
            </a:r>
            <a:r>
              <a:rPr sz="1600" b="0" dirty="0">
                <a:solidFill>
                  <a:srgbClr val="334055"/>
                </a:solidFill>
                <a:latin typeface="Arial"/>
              </a:rPr>
              <a:t>, trimmed</a:t>
            </a: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email </a:t>
            </a:r>
            <a:r>
              <a:rPr sz="1600" b="0" dirty="0">
                <a:solidFill>
                  <a:srgbClr val="334055"/>
                </a:solidFill>
                <a:latin typeface="Arial"/>
              </a:rPr>
              <a:t>valid format</a:t>
            </a: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phone </a:t>
            </a:r>
            <a:r>
              <a:rPr sz="1600" b="0" dirty="0">
                <a:solidFill>
                  <a:srgbClr val="334055"/>
                </a:solidFill>
                <a:latin typeface="Arial"/>
              </a:rPr>
              <a:t>optional, 7 to 15 digits</a:t>
            </a: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password </a:t>
            </a:r>
            <a:r>
              <a:rPr sz="1600" b="0" dirty="0">
                <a:solidFill>
                  <a:srgbClr val="334055"/>
                </a:solidFill>
                <a:latin typeface="Arial"/>
              </a:rPr>
              <a:t>8 to 64 chars</a:t>
            </a:r>
          </a:p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0C2340"/>
                </a:solidFill>
                <a:latin typeface="Arial"/>
              </a:rPr>
              <a:t>quantity </a:t>
            </a:r>
            <a:r>
              <a:rPr sz="1600" b="0" dirty="0">
                <a:solidFill>
                  <a:srgbClr val="334055"/>
                </a:solidFill>
                <a:latin typeface="Arial"/>
              </a:rPr>
              <a:t>integer &gt;= 0</a:t>
            </a:r>
          </a:p>
          <a:p>
            <a:pPr algn="l">
              <a:spcAft>
                <a:spcPts val="400"/>
              </a:spcAft>
            </a:pPr>
            <a:endParaRPr sz="1600" b="0" dirty="0">
              <a:solidFill>
                <a:srgbClr val="334055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1A662B-5BC3-58E8-F40B-0871A0F5FDA6}"/>
              </a:ext>
            </a:extLst>
          </p:cNvPr>
          <p:cNvSpPr txBox="1"/>
          <p:nvPr/>
        </p:nvSpPr>
        <p:spPr>
          <a:xfrm>
            <a:off x="5420308" y="2682667"/>
            <a:ext cx="1887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0587D8"/>
                </a:solidFill>
              </a:rPr>
              <a:t>Security</a:t>
            </a:r>
          </a:p>
          <a:p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C02717-CAC8-FDA7-10EC-127A713BDD38}"/>
              </a:ext>
            </a:extLst>
          </p:cNvPr>
          <p:cNvSpPr txBox="1"/>
          <p:nvPr/>
        </p:nvSpPr>
        <p:spPr>
          <a:xfrm>
            <a:off x="5347966" y="3027023"/>
            <a:ext cx="276389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IN" sz="1600" b="1" dirty="0">
                <a:solidFill>
                  <a:srgbClr val="1E8E3E"/>
                </a:solidFill>
              </a:rPr>
              <a:t> </a:t>
            </a:r>
            <a:r>
              <a:rPr lang="en-IN" sz="1600" dirty="0" err="1">
                <a:solidFill>
                  <a:srgbClr val="334055"/>
                </a:solidFill>
              </a:rPr>
              <a:t>bcrypt</a:t>
            </a:r>
            <a:r>
              <a:rPr lang="en-IN" sz="1600" dirty="0">
                <a:solidFill>
                  <a:srgbClr val="334055"/>
                </a:solidFill>
              </a:rPr>
              <a:t> password hashes</a:t>
            </a:r>
          </a:p>
          <a:p>
            <a:pPr>
              <a:spcAft>
                <a:spcPts val="400"/>
              </a:spcAft>
            </a:pPr>
            <a:r>
              <a:rPr lang="en-IN" sz="1600" dirty="0">
                <a:solidFill>
                  <a:srgbClr val="334055"/>
                </a:solidFill>
              </a:rPr>
              <a:t> Google never merged (409)</a:t>
            </a:r>
          </a:p>
          <a:p>
            <a:pPr>
              <a:spcAft>
                <a:spcPts val="400"/>
              </a:spcAft>
            </a:pPr>
            <a:r>
              <a:rPr lang="en-IN" sz="1600" dirty="0">
                <a:solidFill>
                  <a:srgbClr val="334055"/>
                </a:solidFill>
              </a:rPr>
              <a:t> Duplicate signup gives 409</a:t>
            </a:r>
          </a:p>
          <a:p>
            <a:pPr>
              <a:spcAft>
                <a:spcPts val="400"/>
              </a:spcAft>
            </a:pPr>
            <a:r>
              <a:rPr lang="en-IN" sz="1600" dirty="0">
                <a:solidFill>
                  <a:srgbClr val="334055"/>
                </a:solidFill>
              </a:rPr>
              <a:t>.env is git-ignored</a:t>
            </a:r>
          </a:p>
        </p:txBody>
      </p:sp>
    </p:spTree>
    <p:extLst>
      <p:ext uri="{BB962C8B-B14F-4D97-AF65-F5344CB8AC3E}">
        <p14:creationId xmlns:p14="http://schemas.microsoft.com/office/powerpoint/2010/main" val="172657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33EFD-CD39-0B5A-0635-2D3432C8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421011"/>
      </p:ext>
    </p:extLst>
  </p:cSld>
  <p:clrMapOvr>
    <a:masterClrMapping/>
  </p:clrMapOvr>
</p:sld>
</file>

<file path=ppt/theme/theme1.xml><?xml version="1.0" encoding="utf-8"?>
<a:theme xmlns:a="http://schemas.openxmlformats.org/drawingml/2006/main" name="Revel Labs">
  <a:themeElements>
    <a:clrScheme name="Simple Light">
      <a:dk1>
        <a:srgbClr val="0086D6"/>
      </a:dk1>
      <a:lt1>
        <a:srgbClr val="FFFFFF"/>
      </a:lt1>
      <a:dk2>
        <a:srgbClr val="000000"/>
      </a:dk2>
      <a:lt2>
        <a:srgbClr val="EEEEEE"/>
      </a:lt2>
      <a:accent1>
        <a:srgbClr val="62B5E5"/>
      </a:accent1>
      <a:accent2>
        <a:srgbClr val="00A3E0"/>
      </a:accent2>
      <a:accent3>
        <a:srgbClr val="0C2340"/>
      </a:accent3>
      <a:accent4>
        <a:srgbClr val="C8C9C7"/>
      </a:accent4>
      <a:accent5>
        <a:srgbClr val="888B8D"/>
      </a:accent5>
      <a:accent6>
        <a:srgbClr val="333F48"/>
      </a:accent6>
      <a:hlink>
        <a:srgbClr val="FE5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940</Words>
  <Application>Microsoft Office PowerPoint</Application>
  <PresentationFormat>On-screen Show (16:9)</PresentationFormat>
  <Paragraphs>218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Wingdings</vt:lpstr>
      <vt:lpstr>Open Sans</vt:lpstr>
      <vt:lpstr>Times New Roman</vt:lpstr>
      <vt:lpstr>Arial</vt:lpstr>
      <vt:lpstr>Revel Labs</vt:lpstr>
      <vt:lpstr>Inventory Service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windows11</dc:creator>
  <cp:lastModifiedBy>Rudra Sharma</cp:lastModifiedBy>
  <cp:revision>5</cp:revision>
  <dcterms:modified xsi:type="dcterms:W3CDTF">2026-10-11T17:54:11Z</dcterms:modified>
</cp:coreProperties>
</file>