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4"/>
  </p:notesMasterIdLst>
  <p:sldIdLst>
    <p:sldId id="256" r:id="rId2"/>
    <p:sldId id="259" r:id="rId3"/>
    <p:sldId id="260" r:id="rId4"/>
    <p:sldId id="261" r:id="rId5"/>
    <p:sldId id="267" r:id="rId6"/>
    <p:sldId id="268" r:id="rId7"/>
    <p:sldId id="269" r:id="rId8"/>
    <p:sldId id="270" r:id="rId9"/>
    <p:sldId id="273" r:id="rId10"/>
    <p:sldId id="271" r:id="rId11"/>
    <p:sldId id="272" r:id="rId12"/>
    <p:sldId id="266" r:id="rId13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5"/>
      <p:bold r:id="rId16"/>
    </p:embeddedFont>
    <p:embeddedFont>
      <p:font typeface="Open Sans" panose="020B0606030504020204" pitchFamily="34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066FF8B8-9D5C-4F1A-BA7E-00848C8DA608}">
          <p14:sldIdLst>
            <p14:sldId id="256"/>
            <p14:sldId id="259"/>
            <p14:sldId id="260"/>
            <p14:sldId id="261"/>
            <p14:sldId id="267"/>
            <p14:sldId id="268"/>
            <p14:sldId id="269"/>
            <p14:sldId id="270"/>
            <p14:sldId id="273"/>
            <p14:sldId id="271"/>
            <p14:sldId id="272"/>
            <p14:sldId id="266"/>
          </p14:sldIdLst>
        </p14:section>
        <p14:section name="Untitled Section" id="{521814DF-8F26-480D-AF35-0F1BA2DEDD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D6"/>
    <a:srgbClr val="FFFFFF"/>
    <a:srgbClr val="6993AC"/>
    <a:srgbClr val="5FB3E5"/>
    <a:srgbClr val="3A7D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4776AC-F6FF-4D25-B78E-8BCD67556C7C}" v="112" dt="2026-04-24T17:43:02.2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4641" autoAdjust="0"/>
  </p:normalViewPr>
  <p:slideViewPr>
    <p:cSldViewPr snapToGrid="0">
      <p:cViewPr>
        <p:scale>
          <a:sx n="66" d="100"/>
          <a:sy n="66" d="100"/>
        </p:scale>
        <p:origin x="2069" y="67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c535b41f7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c535b41f7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8100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l Templat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1" name="Google Shape;11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711450" y="4733600"/>
            <a:ext cx="304150" cy="30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pic>
        <p:nvPicPr>
          <p:cNvPr id="14" name="Google Shape;14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711450" y="4733600"/>
            <a:ext cx="304150" cy="30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20" name="Google Shape;20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711450" y="4733600"/>
            <a:ext cx="304150" cy="30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pic>
        <p:nvPicPr>
          <p:cNvPr id="25" name="Google Shape;25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711450" y="4733600"/>
            <a:ext cx="304150" cy="30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28" name="Google Shape;28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711450" y="4733600"/>
            <a:ext cx="304150" cy="30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pic>
        <p:nvPicPr>
          <p:cNvPr id="32" name="Google Shape;3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711450" y="4733600"/>
            <a:ext cx="304150" cy="30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pic>
        <p:nvPicPr>
          <p:cNvPr id="35" name="Google Shape;35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711450" y="4733600"/>
            <a:ext cx="304150" cy="30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pic>
        <p:nvPicPr>
          <p:cNvPr id="43" name="Google Shape;4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711450" y="4733600"/>
            <a:ext cx="304150" cy="30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47" name="Google Shape;47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711450" y="4733600"/>
            <a:ext cx="304150" cy="30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711450" y="4733600"/>
            <a:ext cx="304150" cy="30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"/>
              <a:buChar char="●"/>
              <a:defRPr sz="18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4"/>
          <p:cNvPicPr preferRelativeResize="0"/>
          <p:nvPr/>
        </p:nvPicPr>
        <p:blipFill rotWithShape="1">
          <a:blip r:embed="rId3">
            <a:alphaModFix/>
          </a:blip>
          <a:srcRect l="34491" t="7982" b="9298"/>
          <a:stretch/>
        </p:blipFill>
        <p:spPr>
          <a:xfrm>
            <a:off x="-94988" y="0"/>
            <a:ext cx="407347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150760" y="1195551"/>
            <a:ext cx="2666843" cy="86370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>
              <a:buSzPts val="990"/>
            </a:pPr>
            <a:r>
              <a:rPr lang="en-IN" sz="2000" b="1" dirty="0">
                <a:solidFill>
                  <a:srgbClr val="FFFFFF"/>
                </a:solidFill>
              </a:rPr>
              <a:t>Inventory Service</a:t>
            </a:r>
            <a:endParaRPr sz="2000" b="1" u="sng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6" name="Google Shape;56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44975" y="1555875"/>
            <a:ext cx="4887674" cy="1706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title" idx="4294967295"/>
          </p:nvPr>
        </p:nvSpPr>
        <p:spPr>
          <a:xfrm>
            <a:off x="111351" y="2204763"/>
            <a:ext cx="327156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990"/>
            </a:pPr>
            <a:r>
              <a:rPr lang="en-IN" sz="1600" dirty="0" err="1">
                <a:solidFill>
                  <a:srgbClr val="FFFFFF"/>
                </a:solidFill>
              </a:rPr>
              <a:t>FastAPI</a:t>
            </a:r>
            <a:r>
              <a:rPr lang="en-IN" sz="1600" dirty="0">
                <a:solidFill>
                  <a:srgbClr val="FFFFFF"/>
                </a:solidFill>
              </a:rPr>
              <a:t> + PostgreSQL Backend</a:t>
            </a:r>
            <a:br>
              <a:rPr lang="en-IN" sz="1600" dirty="0">
                <a:solidFill>
                  <a:srgbClr val="FFFFFF"/>
                </a:solidFill>
              </a:rPr>
            </a:br>
            <a:endParaRPr sz="1600" u="sng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Google Shape;58;p14"/>
          <p:cNvSpPr txBox="1"/>
          <p:nvPr/>
        </p:nvSpPr>
        <p:spPr>
          <a:xfrm>
            <a:off x="387900" y="4448050"/>
            <a:ext cx="23886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2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526722-4BF5-810B-95B3-4CB181FA38C9}"/>
              </a:ext>
            </a:extLst>
          </p:cNvPr>
          <p:cNvSpPr txBox="1"/>
          <p:nvPr/>
        </p:nvSpPr>
        <p:spPr>
          <a:xfrm>
            <a:off x="111351" y="2922967"/>
            <a:ext cx="4601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 - Rudra Sharma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16DF44-E7BF-3B6B-9F14-AEE596B45CF7}"/>
              </a:ext>
            </a:extLst>
          </p:cNvPr>
          <p:cNvSpPr txBox="1"/>
          <p:nvPr/>
        </p:nvSpPr>
        <p:spPr>
          <a:xfrm>
            <a:off x="150760" y="3457807"/>
            <a:ext cx="2133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M4 Project | October 2026</a:t>
            </a:r>
            <a:endParaRPr lang="en-IN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43B14-FA74-B657-4279-7148542DC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1" y="445025"/>
            <a:ext cx="7486720" cy="572700"/>
          </a:xfrm>
        </p:spPr>
        <p:txBody>
          <a:bodyPr>
            <a:normAutofit fontScale="90000"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IN" dirty="0"/>
              <a:t>Agenda</a:t>
            </a:r>
            <a:endParaRPr lang="en-IN" b="0" u="sng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93BDE-BA9B-D510-D6F1-160ED9CD83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657" y="990454"/>
            <a:ext cx="8196850" cy="3915329"/>
          </a:xfrm>
          <a:ln>
            <a:solidFill>
              <a:schemeClr val="bg2"/>
            </a:solidFill>
          </a:ln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IN" sz="2200" b="1" dirty="0">
                <a:solidFill>
                  <a:srgbClr val="0C2340"/>
                </a:solidFill>
                <a:latin typeface="Arial"/>
              </a:rPr>
              <a:t>1. Overview -  </a:t>
            </a:r>
            <a:r>
              <a:rPr lang="en-US" sz="2200" dirty="0">
                <a:solidFill>
                  <a:srgbClr val="334055"/>
                </a:solidFill>
                <a:latin typeface="Arial"/>
              </a:rPr>
              <a:t>What the project is and what M4 asked for</a:t>
            </a:r>
          </a:p>
          <a:p>
            <a:pPr marL="114300" indent="0">
              <a:buNone/>
            </a:pPr>
            <a:r>
              <a:rPr lang="en-IN" sz="2200" b="1" dirty="0">
                <a:solidFill>
                  <a:srgbClr val="0C2340"/>
                </a:solidFill>
                <a:latin typeface="Arial"/>
              </a:rPr>
              <a:t>2. Tech stack - </a:t>
            </a:r>
            <a:r>
              <a:rPr lang="en-IN" sz="2200" dirty="0">
                <a:solidFill>
                  <a:srgbClr val="334055"/>
                </a:solidFill>
                <a:latin typeface="Arial"/>
              </a:rPr>
              <a:t>Tools used and why</a:t>
            </a:r>
            <a:endParaRPr lang="en-IN" sz="2200" b="1" dirty="0">
              <a:solidFill>
                <a:srgbClr val="0C2340"/>
              </a:solidFill>
              <a:latin typeface="Arial"/>
            </a:endParaRPr>
          </a:p>
          <a:p>
            <a:pPr marL="114300" indent="0">
              <a:buNone/>
            </a:pPr>
            <a:r>
              <a:rPr lang="en-IN" sz="2200" b="1" dirty="0">
                <a:solidFill>
                  <a:srgbClr val="0C2340"/>
                </a:solidFill>
                <a:latin typeface="Arial"/>
              </a:rPr>
              <a:t>3. Architecture - </a:t>
            </a:r>
            <a:r>
              <a:rPr lang="en-US" sz="2200" dirty="0">
                <a:solidFill>
                  <a:srgbClr val="334055"/>
                </a:solidFill>
                <a:latin typeface="Arial"/>
              </a:rPr>
              <a:t>Layers, files and request flow</a:t>
            </a:r>
            <a:endParaRPr lang="en-IN" sz="2200" b="1" dirty="0">
              <a:solidFill>
                <a:srgbClr val="0C2340"/>
              </a:solidFill>
              <a:latin typeface="Arial"/>
            </a:endParaRPr>
          </a:p>
          <a:p>
            <a:pPr marL="114300" indent="0">
              <a:buNone/>
            </a:pPr>
            <a:r>
              <a:rPr lang="en-IN" sz="2200" b="1" dirty="0">
                <a:solidFill>
                  <a:srgbClr val="0C2340"/>
                </a:solidFill>
                <a:latin typeface="Arial"/>
              </a:rPr>
              <a:t>4. Database -  </a:t>
            </a:r>
            <a:r>
              <a:rPr lang="en-IN" sz="2200" dirty="0">
                <a:solidFill>
                  <a:srgbClr val="334055"/>
                </a:solidFill>
                <a:latin typeface="Arial"/>
              </a:rPr>
              <a:t>Tables, keys and migrations</a:t>
            </a:r>
            <a:endParaRPr lang="en-IN" sz="2200" b="1" dirty="0">
              <a:solidFill>
                <a:srgbClr val="0C2340"/>
              </a:solidFill>
              <a:latin typeface="Arial"/>
            </a:endParaRPr>
          </a:p>
          <a:p>
            <a:pPr marL="114300" indent="0">
              <a:buNone/>
            </a:pPr>
            <a:r>
              <a:rPr lang="en-IN" sz="2200" b="1" dirty="0">
                <a:solidFill>
                  <a:srgbClr val="0C2340"/>
                </a:solidFill>
                <a:latin typeface="Arial"/>
              </a:rPr>
              <a:t>5. API - </a:t>
            </a:r>
            <a:r>
              <a:rPr lang="en-US" sz="2200" dirty="0">
                <a:solidFill>
                  <a:srgbClr val="334055"/>
                </a:solidFill>
                <a:latin typeface="Arial"/>
              </a:rPr>
              <a:t>11 endpoints + 3 API designs</a:t>
            </a:r>
            <a:endParaRPr lang="en-IN" sz="2200" b="1" dirty="0">
              <a:solidFill>
                <a:srgbClr val="0C2340"/>
              </a:solidFill>
              <a:latin typeface="Arial"/>
            </a:endParaRPr>
          </a:p>
          <a:p>
            <a:pPr marL="114300" indent="0">
              <a:buNone/>
            </a:pPr>
            <a:r>
              <a:rPr lang="en-IN" sz="2200" b="1" dirty="0">
                <a:solidFill>
                  <a:srgbClr val="0C2340"/>
                </a:solidFill>
                <a:latin typeface="Arial"/>
              </a:rPr>
              <a:t>6. Auth &amp; roles - </a:t>
            </a:r>
            <a:r>
              <a:rPr lang="nl-NL" sz="2200" dirty="0">
                <a:solidFill>
                  <a:srgbClr val="334055"/>
                </a:solidFill>
                <a:latin typeface="Arial"/>
              </a:rPr>
              <a:t>JWT, Google login, 3 roles</a:t>
            </a:r>
            <a:endParaRPr lang="en-IN" sz="2200" b="1" dirty="0">
              <a:solidFill>
                <a:srgbClr val="0C2340"/>
              </a:solidFill>
              <a:latin typeface="Arial"/>
            </a:endParaRPr>
          </a:p>
          <a:p>
            <a:pPr marL="114300" indent="0">
              <a:buNone/>
            </a:pPr>
            <a:r>
              <a:rPr lang="en-IN" sz="2200" b="1" dirty="0">
                <a:solidFill>
                  <a:srgbClr val="0C2340"/>
                </a:solidFill>
                <a:latin typeface="Arial"/>
              </a:rPr>
              <a:t>7. Setup - </a:t>
            </a:r>
            <a:r>
              <a:rPr lang="en-IN" sz="2200" dirty="0">
                <a:solidFill>
                  <a:srgbClr val="334055"/>
                </a:solidFill>
                <a:latin typeface="Arial"/>
              </a:rPr>
              <a:t>Docker, env variables, </a:t>
            </a:r>
            <a:r>
              <a:rPr lang="en-IN" sz="2200" dirty="0" err="1">
                <a:solidFill>
                  <a:srgbClr val="334055"/>
                </a:solidFill>
                <a:latin typeface="Arial"/>
              </a:rPr>
              <a:t>pgAdmin</a:t>
            </a:r>
            <a:endParaRPr lang="en-IN" sz="2200" b="1" dirty="0">
              <a:solidFill>
                <a:srgbClr val="0C2340"/>
              </a:solidFill>
              <a:latin typeface="Arial"/>
            </a:endParaRPr>
          </a:p>
          <a:p>
            <a:pPr marL="114300" indent="0">
              <a:buNone/>
            </a:pPr>
            <a:r>
              <a:rPr lang="en-IN" sz="2200" b="1" dirty="0">
                <a:solidFill>
                  <a:srgbClr val="0C2340"/>
                </a:solidFill>
                <a:latin typeface="Arial"/>
              </a:rPr>
              <a:t>8. Testing &amp; demo- </a:t>
            </a:r>
            <a:r>
              <a:rPr lang="en-US" sz="2200" dirty="0">
                <a:solidFill>
                  <a:srgbClr val="334055"/>
                </a:solidFill>
                <a:latin typeface="Arial"/>
              </a:rPr>
              <a:t>3 tests, Postman, live demo</a:t>
            </a:r>
          </a:p>
          <a:p>
            <a:pPr marL="114300" indent="0">
              <a:buNone/>
            </a:pPr>
            <a:endParaRPr lang="en-IN" sz="2200" b="1" dirty="0">
              <a:solidFill>
                <a:srgbClr val="0C2340"/>
              </a:solidFill>
              <a:latin typeface="Arial"/>
            </a:endParaRPr>
          </a:p>
          <a:p>
            <a:pPr marL="114300" indent="0">
              <a:buNone/>
            </a:pPr>
            <a:endParaRPr lang="en-IN" sz="2200" b="1" dirty="0">
              <a:solidFill>
                <a:srgbClr val="0C2340"/>
              </a:solidFill>
              <a:latin typeface="Arial"/>
            </a:endParaRPr>
          </a:p>
          <a:p>
            <a:pPr marL="114300" indent="0">
              <a:buNone/>
            </a:pP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7" name="Google Shape;123;p15">
            <a:extLst>
              <a:ext uri="{FF2B5EF4-FFF2-40B4-BE49-F238E27FC236}">
                <a16:creationId xmlns:a16="http://schemas.microsoft.com/office/drawing/2014/main" id="{8380524D-78EA-1927-1ADB-1B248C5DFF10}"/>
              </a:ext>
            </a:extLst>
          </p:cNvPr>
          <p:cNvGrpSpPr/>
          <p:nvPr/>
        </p:nvGrpSpPr>
        <p:grpSpPr>
          <a:xfrm>
            <a:off x="4973279" y="80552"/>
            <a:ext cx="3963486" cy="932139"/>
            <a:chOff x="1321509" y="3455275"/>
            <a:chExt cx="3963486" cy="1009950"/>
          </a:xfrm>
        </p:grpSpPr>
        <p:sp>
          <p:nvSpPr>
            <p:cNvPr id="8" name="Google Shape;124;p15">
              <a:extLst>
                <a:ext uri="{FF2B5EF4-FFF2-40B4-BE49-F238E27FC236}">
                  <a16:creationId xmlns:a16="http://schemas.microsoft.com/office/drawing/2014/main" id="{91EC1302-B806-98A0-072C-49E5942030B4}"/>
                </a:ext>
              </a:extLst>
            </p:cNvPr>
            <p:cNvSpPr/>
            <p:nvPr/>
          </p:nvSpPr>
          <p:spPr>
            <a:xfrm>
              <a:off x="4435695" y="3590725"/>
              <a:ext cx="849300" cy="87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pic>
          <p:nvPicPr>
            <p:cNvPr id="9" name="Google Shape;125;p15">
              <a:extLst>
                <a:ext uri="{FF2B5EF4-FFF2-40B4-BE49-F238E27FC236}">
                  <a16:creationId xmlns:a16="http://schemas.microsoft.com/office/drawing/2014/main" id="{916F4B1D-B71C-6BB2-C5FE-4EAC98CF3C79}"/>
                </a:ext>
              </a:extLst>
            </p:cNvPr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321509" y="3455275"/>
              <a:ext cx="572700" cy="5727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" name="Picture 10" descr="image.png">
            <a:extLst>
              <a:ext uri="{FF2B5EF4-FFF2-40B4-BE49-F238E27FC236}">
                <a16:creationId xmlns:a16="http://schemas.microsoft.com/office/drawing/2014/main" id="{F50D62E7-963B-B63A-AF37-7B801D1B1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9507" y="302732"/>
            <a:ext cx="612792" cy="61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053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AB15-581D-18F3-3CF0-8B965F05DDC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444500"/>
            <a:ext cx="16576675" cy="504825"/>
          </a:xfrm>
        </p:spPr>
        <p:txBody>
          <a:bodyPr>
            <a:normAutofit fontScale="90000"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dirty="0"/>
              <a:t>Project overview</a:t>
            </a:r>
            <a:endParaRPr lang="en-IN" b="0" u="sng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Google Shape;90;p15">
            <a:extLst>
              <a:ext uri="{FF2B5EF4-FFF2-40B4-BE49-F238E27FC236}">
                <a16:creationId xmlns:a16="http://schemas.microsoft.com/office/drawing/2014/main" id="{13CC007A-DA87-D19F-E337-281EB95DBE6C}"/>
              </a:ext>
            </a:extLst>
          </p:cNvPr>
          <p:cNvGrpSpPr/>
          <p:nvPr/>
        </p:nvGrpSpPr>
        <p:grpSpPr>
          <a:xfrm>
            <a:off x="7923665" y="176321"/>
            <a:ext cx="849300" cy="874500"/>
            <a:chOff x="8098925" y="1094575"/>
            <a:chExt cx="849300" cy="874500"/>
          </a:xfrm>
        </p:grpSpPr>
        <p:sp>
          <p:nvSpPr>
            <p:cNvPr id="6" name="Google Shape;91;p15">
              <a:extLst>
                <a:ext uri="{FF2B5EF4-FFF2-40B4-BE49-F238E27FC236}">
                  <a16:creationId xmlns:a16="http://schemas.microsoft.com/office/drawing/2014/main" id="{2302E203-68F1-FB27-8CF5-1D5EE814AAEF}"/>
                </a:ext>
              </a:extLst>
            </p:cNvPr>
            <p:cNvSpPr/>
            <p:nvPr/>
          </p:nvSpPr>
          <p:spPr>
            <a:xfrm>
              <a:off x="8098925" y="1094575"/>
              <a:ext cx="849300" cy="87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pic>
          <p:nvPicPr>
            <p:cNvPr id="7" name="Google Shape;92;p15">
              <a:extLst>
                <a:ext uri="{FF2B5EF4-FFF2-40B4-BE49-F238E27FC236}">
                  <a16:creationId xmlns:a16="http://schemas.microsoft.com/office/drawing/2014/main" id="{992D5852-5263-1F71-1EFE-D8B621962E0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237225" y="1245475"/>
              <a:ext cx="572700" cy="572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E7EED1D-D16A-BA8C-C790-B2CA5CE4489A}"/>
              </a:ext>
            </a:extLst>
          </p:cNvPr>
          <p:cNvSpPr txBox="1"/>
          <p:nvPr/>
        </p:nvSpPr>
        <p:spPr>
          <a:xfrm>
            <a:off x="-509777" y="897017"/>
            <a:ext cx="2880872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dirty="0"/>
              <a:t>11</a:t>
            </a:r>
          </a:p>
          <a:p>
            <a:pPr algn="ctr"/>
            <a:r>
              <a:rPr lang="en-IN" sz="2400" dirty="0"/>
              <a:t>  API endpoint</a:t>
            </a:r>
          </a:p>
          <a:p>
            <a:pPr algn="ctr"/>
            <a:endParaRPr lang="en-IN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80C7F6-144D-4FA6-AAAA-DB309F6B6AB1}"/>
              </a:ext>
            </a:extLst>
          </p:cNvPr>
          <p:cNvSpPr txBox="1"/>
          <p:nvPr/>
        </p:nvSpPr>
        <p:spPr>
          <a:xfrm>
            <a:off x="318757" y="2178244"/>
            <a:ext cx="15375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b="1" dirty="0">
                <a:solidFill>
                  <a:srgbClr val="0C2340"/>
                </a:solidFill>
              </a:rPr>
              <a:t>What it is</a:t>
            </a:r>
          </a:p>
          <a:p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50797B-0943-F79D-D95B-1704AFC50CFA}"/>
              </a:ext>
            </a:extLst>
          </p:cNvPr>
          <p:cNvSpPr txBox="1"/>
          <p:nvPr/>
        </p:nvSpPr>
        <p:spPr>
          <a:xfrm>
            <a:off x="369412" y="2495951"/>
            <a:ext cx="21528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334055"/>
                </a:solidFill>
              </a:rPr>
              <a:t>A backend to manage inventory items. Users sign up, log in and get a JWT token</a:t>
            </a:r>
            <a:endParaRPr lang="en-IN" sz="1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966700-8F3C-AB78-1D4F-70920A546C46}"/>
              </a:ext>
            </a:extLst>
          </p:cNvPr>
          <p:cNvSpPr txBox="1"/>
          <p:nvPr/>
        </p:nvSpPr>
        <p:spPr>
          <a:xfrm>
            <a:off x="2005746" y="894010"/>
            <a:ext cx="25138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3600" dirty="0"/>
              <a:t>2</a:t>
            </a:r>
          </a:p>
          <a:p>
            <a:pPr algn="ctr"/>
            <a:r>
              <a:rPr lang="en-IN" sz="2400" dirty="0"/>
              <a:t>Database Tables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C5712A-B576-73FE-A307-D16D9D36AEB5}"/>
              </a:ext>
            </a:extLst>
          </p:cNvPr>
          <p:cNvSpPr txBox="1"/>
          <p:nvPr/>
        </p:nvSpPr>
        <p:spPr>
          <a:xfrm>
            <a:off x="2829335" y="2212255"/>
            <a:ext cx="227264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b="1" dirty="0">
                <a:solidFill>
                  <a:srgbClr val="0C2340"/>
                </a:solidFill>
              </a:rPr>
              <a:t>Who can do what</a:t>
            </a:r>
          </a:p>
          <a:p>
            <a:r>
              <a:rPr lang="en-US" sz="1800" dirty="0">
                <a:solidFill>
                  <a:srgbClr val="334055"/>
                </a:solidFill>
              </a:rPr>
              <a:t>  Staff, inventory     managers and one admin have different rights on items and users.</a:t>
            </a:r>
          </a:p>
          <a:p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2A4F13-8B8A-7D03-4E43-D4421AFD8B31}"/>
              </a:ext>
            </a:extLst>
          </p:cNvPr>
          <p:cNvSpPr txBox="1"/>
          <p:nvPr/>
        </p:nvSpPr>
        <p:spPr>
          <a:xfrm>
            <a:off x="5560221" y="2248584"/>
            <a:ext cx="3340710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b="1" dirty="0">
                <a:solidFill>
                  <a:srgbClr val="0C2340"/>
                </a:solidFill>
              </a:rPr>
              <a:t>How it runs</a:t>
            </a:r>
          </a:p>
          <a:p>
            <a:r>
              <a:rPr lang="en-US" sz="1800" dirty="0">
                <a:solidFill>
                  <a:srgbClr val="334055"/>
                </a:solidFill>
              </a:rPr>
              <a:t> One command (docker compose up) starts PostgreSQL, </a:t>
            </a:r>
            <a:r>
              <a:rPr lang="en-US" sz="1800" dirty="0" err="1">
                <a:solidFill>
                  <a:srgbClr val="334055"/>
                </a:solidFill>
              </a:rPr>
              <a:t>pgAdmin</a:t>
            </a:r>
            <a:r>
              <a:rPr lang="en-US" sz="1800" dirty="0">
                <a:solidFill>
                  <a:srgbClr val="334055"/>
                </a:solidFill>
              </a:rPr>
              <a:t> and the API.</a:t>
            </a:r>
          </a:p>
          <a:p>
            <a:endParaRPr lang="en-IN" sz="1800" b="1" dirty="0">
              <a:solidFill>
                <a:srgbClr val="0C2340"/>
              </a:solidFill>
            </a:endParaRPr>
          </a:p>
          <a:p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3CB665-B6FE-8E9F-0D33-5262BC4F265F}"/>
              </a:ext>
            </a:extLst>
          </p:cNvPr>
          <p:cNvSpPr txBox="1"/>
          <p:nvPr/>
        </p:nvSpPr>
        <p:spPr>
          <a:xfrm>
            <a:off x="4624427" y="894009"/>
            <a:ext cx="170912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600" dirty="0"/>
              <a:t>     3</a:t>
            </a:r>
          </a:p>
          <a:p>
            <a:r>
              <a:rPr lang="en-IN" sz="2400" dirty="0"/>
              <a:t>User Roles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9D116F-CDC1-BC7C-EE47-D9AE70E5B40C}"/>
              </a:ext>
            </a:extLst>
          </p:cNvPr>
          <p:cNvSpPr txBox="1"/>
          <p:nvPr/>
        </p:nvSpPr>
        <p:spPr>
          <a:xfrm>
            <a:off x="6364933" y="894008"/>
            <a:ext cx="24080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                     </a:t>
            </a:r>
            <a:r>
              <a:rPr lang="en-IN" sz="3600" dirty="0"/>
              <a:t>3</a:t>
            </a:r>
          </a:p>
          <a:p>
            <a:r>
              <a:rPr lang="en-IN" sz="2400" dirty="0"/>
              <a:t>Automated tests</a:t>
            </a:r>
          </a:p>
        </p:txBody>
      </p:sp>
    </p:spTree>
    <p:extLst>
      <p:ext uri="{BB962C8B-B14F-4D97-AF65-F5344CB8AC3E}">
        <p14:creationId xmlns:p14="http://schemas.microsoft.com/office/powerpoint/2010/main" val="2902112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576EE-28C0-8281-5BF4-B13B663AC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dirty="0"/>
              <a:t>M4 requirements: all delivered</a:t>
            </a:r>
            <a:endParaRPr lang="en-IN" b="0" u="sng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E94163-5E27-6B7C-2412-738CE7BEC8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854932"/>
            <a:ext cx="3369049" cy="2028284"/>
          </a:xfrm>
        </p:spPr>
        <p:txBody>
          <a:bodyPr>
            <a:noAutofit/>
          </a:bodyPr>
          <a:lstStyle/>
          <a:p>
            <a:pPr>
              <a:spcAft>
                <a:spcPts val="400"/>
              </a:spcAft>
            </a:pPr>
            <a:r>
              <a:rPr lang="en-IN" sz="1400" b="1" dirty="0">
                <a:solidFill>
                  <a:srgbClr val="1E8E3E"/>
                </a:solidFill>
                <a:latin typeface="Arial"/>
              </a:rPr>
              <a:t>✓ </a:t>
            </a:r>
            <a:r>
              <a:rPr lang="en-IN" sz="1400" dirty="0">
                <a:solidFill>
                  <a:srgbClr val="334055"/>
                </a:solidFill>
                <a:latin typeface="Arial"/>
              </a:rPr>
              <a:t>REST_API_Design.md</a:t>
            </a:r>
          </a:p>
          <a:p>
            <a:pPr>
              <a:spcAft>
                <a:spcPts val="400"/>
              </a:spcAft>
            </a:pPr>
            <a:r>
              <a:rPr lang="en-IN" sz="1400" b="1" dirty="0">
                <a:solidFill>
                  <a:srgbClr val="1E8E3E"/>
                </a:solidFill>
                <a:latin typeface="Arial"/>
              </a:rPr>
              <a:t>✓ </a:t>
            </a:r>
            <a:r>
              <a:rPr lang="en-IN" sz="1400" dirty="0" err="1">
                <a:solidFill>
                  <a:srgbClr val="334055"/>
                </a:solidFill>
                <a:latin typeface="Arial"/>
              </a:rPr>
              <a:t>FastAPI</a:t>
            </a:r>
            <a:r>
              <a:rPr lang="en-IN" sz="1400" dirty="0">
                <a:solidFill>
                  <a:srgbClr val="334055"/>
                </a:solidFill>
                <a:latin typeface="Arial"/>
              </a:rPr>
              <a:t> service + Auth</a:t>
            </a:r>
          </a:p>
          <a:p>
            <a:pPr>
              <a:spcAft>
                <a:spcPts val="400"/>
              </a:spcAft>
            </a:pPr>
            <a:r>
              <a:rPr lang="en-IN" sz="1400" b="1" dirty="0">
                <a:solidFill>
                  <a:srgbClr val="1E8E3E"/>
                </a:solidFill>
                <a:latin typeface="Arial"/>
              </a:rPr>
              <a:t>✓ </a:t>
            </a:r>
            <a:r>
              <a:rPr lang="en-IN" sz="1400" dirty="0">
                <a:solidFill>
                  <a:srgbClr val="334055"/>
                </a:solidFill>
                <a:latin typeface="Arial"/>
              </a:rPr>
              <a:t>PostgreSQL integration</a:t>
            </a:r>
          </a:p>
          <a:p>
            <a:pPr>
              <a:spcAft>
                <a:spcPts val="400"/>
              </a:spcAft>
            </a:pPr>
            <a:r>
              <a:rPr lang="en-IN" sz="1400" b="1" dirty="0">
                <a:solidFill>
                  <a:srgbClr val="1E8E3E"/>
                </a:solidFill>
                <a:latin typeface="Arial"/>
              </a:rPr>
              <a:t>✓ </a:t>
            </a:r>
            <a:r>
              <a:rPr lang="en-IN" sz="1400" dirty="0">
                <a:solidFill>
                  <a:srgbClr val="334055"/>
                </a:solidFill>
                <a:latin typeface="Arial"/>
              </a:rPr>
              <a:t>GraphQL_Design.md, gRPC_Design.md</a:t>
            </a:r>
          </a:p>
          <a:p>
            <a:pPr>
              <a:spcAft>
                <a:spcPts val="400"/>
              </a:spcAft>
            </a:pPr>
            <a:r>
              <a:rPr lang="en-IN" sz="1400" b="1" dirty="0">
                <a:solidFill>
                  <a:srgbClr val="1E8E3E"/>
                </a:solidFill>
                <a:latin typeface="Arial"/>
              </a:rPr>
              <a:t>✓ </a:t>
            </a:r>
            <a:r>
              <a:rPr lang="en-IN" sz="1400" dirty="0">
                <a:solidFill>
                  <a:srgbClr val="334055"/>
                </a:solidFill>
                <a:latin typeface="Arial"/>
              </a:rPr>
              <a:t>Database_Design.md with ERD</a:t>
            </a:r>
          </a:p>
          <a:p>
            <a:pPr>
              <a:spcAft>
                <a:spcPts val="400"/>
              </a:spcAft>
            </a:pPr>
            <a:r>
              <a:rPr lang="en-IN" sz="1400" b="1" dirty="0">
                <a:solidFill>
                  <a:srgbClr val="1E8E3E"/>
                </a:solidFill>
                <a:latin typeface="Arial"/>
              </a:rPr>
              <a:t>✓ </a:t>
            </a:r>
            <a:r>
              <a:rPr lang="en-IN" sz="1400" dirty="0">
                <a:solidFill>
                  <a:srgbClr val="334055"/>
                </a:solidFill>
                <a:latin typeface="Arial"/>
              </a:rPr>
              <a:t>JWT_Design.md</a:t>
            </a:r>
          </a:p>
          <a:p>
            <a:pPr>
              <a:spcAft>
                <a:spcPts val="400"/>
              </a:spcAft>
            </a:pPr>
            <a:r>
              <a:rPr lang="en-IN" sz="1400" b="1" dirty="0">
                <a:solidFill>
                  <a:srgbClr val="1E8E3E"/>
                </a:solidFill>
                <a:latin typeface="Arial"/>
              </a:rPr>
              <a:t>✓ </a:t>
            </a:r>
            <a:r>
              <a:rPr lang="en-IN" sz="1400" dirty="0" err="1">
                <a:solidFill>
                  <a:srgbClr val="334055"/>
                </a:solidFill>
                <a:latin typeface="Arial"/>
              </a:rPr>
              <a:t>Dockerfile</a:t>
            </a:r>
            <a:r>
              <a:rPr lang="en-IN" sz="1400" dirty="0">
                <a:solidFill>
                  <a:srgbClr val="334055"/>
                </a:solidFill>
                <a:latin typeface="Arial"/>
              </a:rPr>
              <a:t> + docker-compose</a:t>
            </a:r>
          </a:p>
          <a:p>
            <a:pPr>
              <a:spcAft>
                <a:spcPts val="400"/>
              </a:spcAft>
            </a:pPr>
            <a:r>
              <a:rPr lang="en-IN" sz="1400" b="1" dirty="0">
                <a:solidFill>
                  <a:srgbClr val="1E8E3E"/>
                </a:solidFill>
                <a:latin typeface="Arial"/>
              </a:rPr>
              <a:t>✓ </a:t>
            </a:r>
            <a:r>
              <a:rPr lang="en-IN" sz="1400" dirty="0">
                <a:solidFill>
                  <a:srgbClr val="334055"/>
                </a:solidFill>
                <a:latin typeface="Arial"/>
              </a:rPr>
              <a:t>README, Postman, 3 unit tests-</a:t>
            </a:r>
          </a:p>
          <a:p>
            <a:pPr marL="114300" indent="0">
              <a:buNone/>
            </a:pPr>
            <a:endParaRPr lang="en-IN" sz="1000" dirty="0"/>
          </a:p>
        </p:txBody>
      </p:sp>
      <p:grpSp>
        <p:nvGrpSpPr>
          <p:cNvPr id="6" name="Google Shape;84;p15">
            <a:extLst>
              <a:ext uri="{FF2B5EF4-FFF2-40B4-BE49-F238E27FC236}">
                <a16:creationId xmlns:a16="http://schemas.microsoft.com/office/drawing/2014/main" id="{D5DAE4DE-40A4-3384-69FC-499BAEB98D8F}"/>
              </a:ext>
            </a:extLst>
          </p:cNvPr>
          <p:cNvGrpSpPr/>
          <p:nvPr/>
        </p:nvGrpSpPr>
        <p:grpSpPr>
          <a:xfrm>
            <a:off x="7983000" y="76097"/>
            <a:ext cx="849300" cy="874500"/>
            <a:chOff x="6123006" y="1094575"/>
            <a:chExt cx="849300" cy="874500"/>
          </a:xfrm>
        </p:grpSpPr>
        <p:sp>
          <p:nvSpPr>
            <p:cNvPr id="7" name="Google Shape;85;p15">
              <a:extLst>
                <a:ext uri="{FF2B5EF4-FFF2-40B4-BE49-F238E27FC236}">
                  <a16:creationId xmlns:a16="http://schemas.microsoft.com/office/drawing/2014/main" id="{AC90D6C0-278C-D6B1-53CC-522B368E233B}"/>
                </a:ext>
              </a:extLst>
            </p:cNvPr>
            <p:cNvSpPr/>
            <p:nvPr/>
          </p:nvSpPr>
          <p:spPr>
            <a:xfrm>
              <a:off x="6123006" y="1094575"/>
              <a:ext cx="849300" cy="87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pic>
          <p:nvPicPr>
            <p:cNvPr id="8" name="Google Shape;86;p15">
              <a:extLst>
                <a:ext uri="{FF2B5EF4-FFF2-40B4-BE49-F238E27FC236}">
                  <a16:creationId xmlns:a16="http://schemas.microsoft.com/office/drawing/2014/main" id="{2296DA35-F0D8-D010-2277-02F70EE2B94B}"/>
                </a:ext>
              </a:extLst>
            </p:cNvPr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6214281" y="1198450"/>
              <a:ext cx="666750" cy="6667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749677F-553F-0307-4538-5D5874B97EBD}"/>
              </a:ext>
            </a:extLst>
          </p:cNvPr>
          <p:cNvSpPr txBox="1"/>
          <p:nvPr/>
        </p:nvSpPr>
        <p:spPr>
          <a:xfrm>
            <a:off x="758385" y="1282440"/>
            <a:ext cx="13949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300"/>
              </a:spcAft>
            </a:pPr>
            <a:r>
              <a:rPr lang="en-IN" sz="1600" b="1" dirty="0">
                <a:solidFill>
                  <a:srgbClr val="0587D8"/>
                </a:solidFill>
              </a:rPr>
              <a:t>Must submit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AF7C9A-C826-28E1-B4E2-44EF645BC9A2}"/>
              </a:ext>
            </a:extLst>
          </p:cNvPr>
          <p:cNvSpPr txBox="1"/>
          <p:nvPr/>
        </p:nvSpPr>
        <p:spPr>
          <a:xfrm>
            <a:off x="3680749" y="1282439"/>
            <a:ext cx="1484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300"/>
              </a:spcAft>
            </a:pPr>
            <a:r>
              <a:rPr lang="en-IN" sz="1600" b="1" dirty="0">
                <a:solidFill>
                  <a:srgbClr val="0587D8"/>
                </a:solidFill>
              </a:rPr>
              <a:t>Stretch goals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255BF0-BF3A-3E65-82CA-AF97E9947FEE}"/>
              </a:ext>
            </a:extLst>
          </p:cNvPr>
          <p:cNvSpPr txBox="1"/>
          <p:nvPr/>
        </p:nvSpPr>
        <p:spPr>
          <a:xfrm>
            <a:off x="3680749" y="1854930"/>
            <a:ext cx="2409634" cy="13747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IN" b="1" dirty="0">
                <a:solidFill>
                  <a:srgbClr val="1E8E3E"/>
                </a:solidFill>
              </a:rPr>
              <a:t>✓ </a:t>
            </a:r>
            <a:r>
              <a:rPr lang="en-IN" dirty="0">
                <a:solidFill>
                  <a:srgbClr val="334055"/>
                </a:solidFill>
              </a:rPr>
              <a:t>Pagination on GET /items</a:t>
            </a:r>
          </a:p>
          <a:p>
            <a:pPr>
              <a:spcAft>
                <a:spcPts val="400"/>
              </a:spcAft>
            </a:pPr>
            <a:r>
              <a:rPr lang="en-IN" b="1" dirty="0">
                <a:solidFill>
                  <a:srgbClr val="1E8E3E"/>
                </a:solidFill>
              </a:rPr>
              <a:t>✓ </a:t>
            </a:r>
            <a:r>
              <a:rPr lang="en-IN" dirty="0">
                <a:solidFill>
                  <a:srgbClr val="334055"/>
                </a:solidFill>
              </a:rPr>
              <a:t>Google social login</a:t>
            </a:r>
          </a:p>
          <a:p>
            <a:pPr>
              <a:spcAft>
                <a:spcPts val="400"/>
              </a:spcAft>
            </a:pPr>
            <a:r>
              <a:rPr lang="en-IN" b="1" dirty="0">
                <a:solidFill>
                  <a:srgbClr val="1E8E3E"/>
                </a:solidFill>
              </a:rPr>
              <a:t>✓ </a:t>
            </a:r>
            <a:r>
              <a:rPr lang="en-IN" dirty="0">
                <a:solidFill>
                  <a:srgbClr val="334055"/>
                </a:solidFill>
              </a:rPr>
              <a:t>Role-based access</a:t>
            </a:r>
          </a:p>
          <a:p>
            <a:pPr>
              <a:spcAft>
                <a:spcPts val="400"/>
              </a:spcAft>
            </a:pPr>
            <a:r>
              <a:rPr lang="en-IN" b="1" dirty="0">
                <a:solidFill>
                  <a:srgbClr val="1E8E3E"/>
                </a:solidFill>
              </a:rPr>
              <a:t>✓ </a:t>
            </a:r>
            <a:r>
              <a:rPr lang="en-IN" dirty="0">
                <a:solidFill>
                  <a:srgbClr val="334055"/>
                </a:solidFill>
              </a:rPr>
              <a:t>Swagger / </a:t>
            </a:r>
            <a:r>
              <a:rPr lang="en-IN" dirty="0" err="1">
                <a:solidFill>
                  <a:srgbClr val="334055"/>
                </a:solidFill>
              </a:rPr>
              <a:t>OpenAPI</a:t>
            </a:r>
            <a:r>
              <a:rPr lang="en-IN" dirty="0">
                <a:solidFill>
                  <a:srgbClr val="334055"/>
                </a:solidFill>
              </a:rPr>
              <a:t> docs</a:t>
            </a:r>
          </a:p>
          <a:p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96E2BC-148F-A28B-41CB-4C074B7AFF1F}"/>
              </a:ext>
            </a:extLst>
          </p:cNvPr>
          <p:cNvSpPr txBox="1"/>
          <p:nvPr/>
        </p:nvSpPr>
        <p:spPr>
          <a:xfrm>
            <a:off x="6692881" y="1282439"/>
            <a:ext cx="223811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b="1" dirty="0">
                <a:solidFill>
                  <a:srgbClr val="0587D8"/>
                </a:solidFill>
              </a:rPr>
              <a:t>Also from the course</a:t>
            </a:r>
          </a:p>
          <a:p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6EE04A-B3CF-88D7-1F1D-54C95FAAF5FA}"/>
              </a:ext>
            </a:extLst>
          </p:cNvPr>
          <p:cNvSpPr txBox="1"/>
          <p:nvPr/>
        </p:nvSpPr>
        <p:spPr>
          <a:xfrm>
            <a:off x="6650192" y="1743840"/>
            <a:ext cx="2323489" cy="20210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IN" b="1" dirty="0" err="1">
                <a:solidFill>
                  <a:srgbClr val="0C2340"/>
                </a:solidFill>
              </a:rPr>
              <a:t>Pydantic</a:t>
            </a:r>
            <a:r>
              <a:rPr lang="en-IN" b="1" dirty="0">
                <a:solidFill>
                  <a:srgbClr val="0C2340"/>
                </a:solidFill>
              </a:rPr>
              <a:t> </a:t>
            </a:r>
            <a:r>
              <a:rPr lang="en-IN" dirty="0">
                <a:solidFill>
                  <a:srgbClr val="334055"/>
                </a:solidFill>
              </a:rPr>
              <a:t>validators</a:t>
            </a:r>
          </a:p>
          <a:p>
            <a:pPr>
              <a:spcAft>
                <a:spcPts val="400"/>
              </a:spcAft>
            </a:pPr>
            <a:r>
              <a:rPr lang="en-IN" b="1" dirty="0" err="1">
                <a:solidFill>
                  <a:srgbClr val="0C2340"/>
                </a:solidFill>
              </a:rPr>
              <a:t>SQLAlchemy</a:t>
            </a:r>
            <a:r>
              <a:rPr lang="en-IN" b="1" dirty="0">
                <a:solidFill>
                  <a:srgbClr val="0C2340"/>
                </a:solidFill>
              </a:rPr>
              <a:t> </a:t>
            </a:r>
            <a:r>
              <a:rPr lang="en-IN" dirty="0">
                <a:solidFill>
                  <a:srgbClr val="334055"/>
                </a:solidFill>
              </a:rPr>
              <a:t>ORM + Alembic</a:t>
            </a:r>
          </a:p>
          <a:p>
            <a:pPr>
              <a:spcAft>
                <a:spcPts val="400"/>
              </a:spcAft>
            </a:pPr>
            <a:r>
              <a:rPr lang="en-IN" b="1" dirty="0">
                <a:solidFill>
                  <a:srgbClr val="0C2340"/>
                </a:solidFill>
              </a:rPr>
              <a:t>Middleware </a:t>
            </a:r>
            <a:r>
              <a:rPr lang="en-IN" dirty="0">
                <a:solidFill>
                  <a:srgbClr val="334055"/>
                </a:solidFill>
              </a:rPr>
              <a:t>+ background task</a:t>
            </a:r>
          </a:p>
          <a:p>
            <a:pPr>
              <a:spcAft>
                <a:spcPts val="400"/>
              </a:spcAft>
            </a:pPr>
            <a:r>
              <a:rPr lang="en-IN" b="1" dirty="0">
                <a:solidFill>
                  <a:srgbClr val="0C2340"/>
                </a:solidFill>
              </a:rPr>
              <a:t>CORS, </a:t>
            </a:r>
            <a:r>
              <a:rPr lang="en-IN" b="1" dirty="0" err="1">
                <a:solidFill>
                  <a:srgbClr val="0C2340"/>
                </a:solidFill>
              </a:rPr>
              <a:t>dotenv</a:t>
            </a:r>
            <a:r>
              <a:rPr lang="en-IN" b="1" dirty="0">
                <a:solidFill>
                  <a:srgbClr val="0C2340"/>
                </a:solidFill>
              </a:rPr>
              <a:t>, </a:t>
            </a:r>
            <a:r>
              <a:rPr lang="en-IN" b="1" dirty="0" err="1">
                <a:solidFill>
                  <a:srgbClr val="0C2340"/>
                </a:solidFill>
              </a:rPr>
              <a:t>pytest</a:t>
            </a:r>
            <a:r>
              <a:rPr lang="en-IN" b="1" dirty="0">
                <a:solidFill>
                  <a:srgbClr val="0C2340"/>
                </a:solidFill>
              </a:rPr>
              <a:t> fixtures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9832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C8650CE-5DE5-651B-51B0-2A114507961C}"/>
              </a:ext>
            </a:extLst>
          </p:cNvPr>
          <p:cNvSpPr txBox="1">
            <a:spLocks/>
          </p:cNvSpPr>
          <p:nvPr/>
        </p:nvSpPr>
        <p:spPr>
          <a:xfrm>
            <a:off x="311700" y="548595"/>
            <a:ext cx="8520600" cy="572700"/>
          </a:xfrm>
          <a:prstGeom prst="rect">
            <a:avLst/>
          </a:prstGeom>
        </p:spPr>
        <p:txBody>
          <a:bodyPr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2400" dirty="0">
                <a:solidFill>
                  <a:schemeClr val="tx1"/>
                </a:solidFill>
              </a:rPr>
              <a:t>Tech stack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D3899D-0F57-8F68-7596-AD98237088B2}"/>
              </a:ext>
            </a:extLst>
          </p:cNvPr>
          <p:cNvSpPr txBox="1"/>
          <p:nvPr/>
        </p:nvSpPr>
        <p:spPr>
          <a:xfrm>
            <a:off x="432816" y="1566672"/>
            <a:ext cx="17327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dirty="0" err="1">
                <a:solidFill>
                  <a:srgbClr val="0C2340"/>
                </a:solidFill>
                <a:latin typeface="Arial"/>
              </a:rPr>
              <a:t>FastAPI</a:t>
            </a:r>
            <a:endParaRPr sz="1800" b="1" dirty="0">
              <a:solidFill>
                <a:srgbClr val="0C2340"/>
              </a:solidFill>
              <a:latin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2E0E1C-6C35-9CE8-287E-E3441A28740A}"/>
              </a:ext>
            </a:extLst>
          </p:cNvPr>
          <p:cNvSpPr txBox="1"/>
          <p:nvPr/>
        </p:nvSpPr>
        <p:spPr>
          <a:xfrm>
            <a:off x="432816" y="1840992"/>
            <a:ext cx="1732788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 dirty="0">
                <a:solidFill>
                  <a:srgbClr val="334055"/>
                </a:solidFill>
                <a:latin typeface="Arial"/>
              </a:rPr>
              <a:t>Web framework. Swagger docs are generated automatically.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B2970F-4DDD-3FE9-C5E6-22280FE501C3}"/>
              </a:ext>
            </a:extLst>
          </p:cNvPr>
          <p:cNvSpPr txBox="1"/>
          <p:nvPr/>
        </p:nvSpPr>
        <p:spPr>
          <a:xfrm>
            <a:off x="2604516" y="1566672"/>
            <a:ext cx="17327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C2340"/>
                </a:solidFill>
                <a:latin typeface="Arial"/>
              </a:rPr>
              <a:t>PostgreSQL 15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1A89ED-97C0-AE11-FF50-93AACBC4F699}"/>
              </a:ext>
            </a:extLst>
          </p:cNvPr>
          <p:cNvSpPr txBox="1"/>
          <p:nvPr/>
        </p:nvSpPr>
        <p:spPr>
          <a:xfrm>
            <a:off x="2604516" y="1840992"/>
            <a:ext cx="1732788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 dirty="0">
                <a:solidFill>
                  <a:srgbClr val="334055"/>
                </a:solidFill>
                <a:latin typeface="Arial"/>
              </a:rPr>
              <a:t>Main database. Runs in Docker.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2083E8-8BD9-6621-62D4-25BC9A11CAA2}"/>
              </a:ext>
            </a:extLst>
          </p:cNvPr>
          <p:cNvSpPr txBox="1"/>
          <p:nvPr/>
        </p:nvSpPr>
        <p:spPr>
          <a:xfrm>
            <a:off x="4776216" y="1566672"/>
            <a:ext cx="17327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C2340"/>
                </a:solidFill>
                <a:latin typeface="Arial"/>
              </a:rPr>
              <a:t>SQLAlchemy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E8DB44-44F9-88E8-3ACE-F263DEFD752E}"/>
              </a:ext>
            </a:extLst>
          </p:cNvPr>
          <p:cNvSpPr txBox="1"/>
          <p:nvPr/>
        </p:nvSpPr>
        <p:spPr>
          <a:xfrm>
            <a:off x="4776216" y="1840992"/>
            <a:ext cx="1732788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334055"/>
                </a:solidFill>
                <a:latin typeface="Arial"/>
              </a:rPr>
              <a:t>ORM for queries. Alembic handles migrations.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E8CDAB-0E3F-BD2F-E388-F0B4FBCE82D7}"/>
              </a:ext>
            </a:extLst>
          </p:cNvPr>
          <p:cNvSpPr txBox="1"/>
          <p:nvPr/>
        </p:nvSpPr>
        <p:spPr>
          <a:xfrm>
            <a:off x="6947916" y="1566672"/>
            <a:ext cx="17327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C2340"/>
                </a:solidFill>
                <a:latin typeface="Arial"/>
              </a:rPr>
              <a:t>Pydantic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375B35-100D-A005-7128-FE9AE54BC7C0}"/>
              </a:ext>
            </a:extLst>
          </p:cNvPr>
          <p:cNvSpPr txBox="1"/>
          <p:nvPr/>
        </p:nvSpPr>
        <p:spPr>
          <a:xfrm>
            <a:off x="6947916" y="1840992"/>
            <a:ext cx="1732788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334055"/>
                </a:solidFill>
                <a:latin typeface="Arial"/>
              </a:rPr>
              <a:t>Validates every request and shapes every response.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3E8597-DC8D-303B-B6DD-B4D43FAA879B}"/>
              </a:ext>
            </a:extLst>
          </p:cNvPr>
          <p:cNvSpPr txBox="1"/>
          <p:nvPr/>
        </p:nvSpPr>
        <p:spPr>
          <a:xfrm>
            <a:off x="432816" y="3285744"/>
            <a:ext cx="17327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C2340"/>
                </a:solidFill>
                <a:latin typeface="Arial"/>
              </a:rPr>
              <a:t>JWT + Google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1221D0-E867-E521-1174-19A200799777}"/>
              </a:ext>
            </a:extLst>
          </p:cNvPr>
          <p:cNvSpPr txBox="1"/>
          <p:nvPr/>
        </p:nvSpPr>
        <p:spPr>
          <a:xfrm>
            <a:off x="432816" y="3560064"/>
            <a:ext cx="1732788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334055"/>
                </a:solidFill>
                <a:latin typeface="Arial"/>
              </a:rPr>
              <a:t>Token login with bcrypt passwords and Google Sign-In.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DEC93B-617C-6B85-8391-26524441471C}"/>
              </a:ext>
            </a:extLst>
          </p:cNvPr>
          <p:cNvSpPr txBox="1"/>
          <p:nvPr/>
        </p:nvSpPr>
        <p:spPr>
          <a:xfrm>
            <a:off x="2604516" y="3285744"/>
            <a:ext cx="1732788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C2340"/>
                </a:solidFill>
                <a:latin typeface="Arial"/>
              </a:rPr>
              <a:t>Docker Compose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193A85F-742C-D6A8-1EFE-7B2D54544B5F}"/>
              </a:ext>
            </a:extLst>
          </p:cNvPr>
          <p:cNvSpPr txBox="1"/>
          <p:nvPr/>
        </p:nvSpPr>
        <p:spPr>
          <a:xfrm>
            <a:off x="2604516" y="3560064"/>
            <a:ext cx="1732788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334055"/>
                </a:solidFill>
                <a:latin typeface="Arial"/>
              </a:rPr>
              <a:t>db + pgAdmin + web with one command.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ECA7C7-8F78-74A1-542B-99C69577C4B2}"/>
              </a:ext>
            </a:extLst>
          </p:cNvPr>
          <p:cNvSpPr txBox="1"/>
          <p:nvPr/>
        </p:nvSpPr>
        <p:spPr>
          <a:xfrm>
            <a:off x="4776216" y="3285744"/>
            <a:ext cx="17327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C2340"/>
                </a:solidFill>
                <a:latin typeface="Arial"/>
              </a:rPr>
              <a:t>pytest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441048-497A-B785-B828-8AD641563C52}"/>
              </a:ext>
            </a:extLst>
          </p:cNvPr>
          <p:cNvSpPr txBox="1"/>
          <p:nvPr/>
        </p:nvSpPr>
        <p:spPr>
          <a:xfrm>
            <a:off x="4776216" y="3560064"/>
            <a:ext cx="1732788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334055"/>
                </a:solidFill>
                <a:latin typeface="Arial"/>
              </a:rPr>
              <a:t>3 tests on a temporary SQLite database.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95465BA-7E94-86A3-B48D-2BB4ED6B0F81}"/>
              </a:ext>
            </a:extLst>
          </p:cNvPr>
          <p:cNvSpPr txBox="1"/>
          <p:nvPr/>
        </p:nvSpPr>
        <p:spPr>
          <a:xfrm>
            <a:off x="6947916" y="3285744"/>
            <a:ext cx="17327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C2340"/>
                </a:solidFill>
                <a:latin typeface="Arial"/>
              </a:rPr>
              <a:t>Postman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CFF177A-1E75-8B33-ADD7-BC929ED69A8E}"/>
              </a:ext>
            </a:extLst>
          </p:cNvPr>
          <p:cNvSpPr txBox="1"/>
          <p:nvPr/>
        </p:nvSpPr>
        <p:spPr>
          <a:xfrm>
            <a:off x="6947916" y="3560064"/>
            <a:ext cx="1732788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334055"/>
                </a:solidFill>
                <a:latin typeface="Arial"/>
              </a:rPr>
              <a:t>Collection with test scripts for every request.</a:t>
            </a:r>
          </a:p>
        </p:txBody>
      </p:sp>
    </p:spTree>
    <p:extLst>
      <p:ext uri="{BB962C8B-B14F-4D97-AF65-F5344CB8AC3E}">
        <p14:creationId xmlns:p14="http://schemas.microsoft.com/office/powerpoint/2010/main" val="3167427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AB9B8-8101-9463-F023-320D803C14B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2400" dirty="0">
                <a:solidFill>
                  <a:schemeClr val="tx1"/>
                </a:solidFill>
              </a:rPr>
              <a:t>Project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802061-169E-F4AB-8282-60B634775A48}"/>
              </a:ext>
            </a:extLst>
          </p:cNvPr>
          <p:cNvSpPr txBox="1"/>
          <p:nvPr/>
        </p:nvSpPr>
        <p:spPr>
          <a:xfrm>
            <a:off x="448056" y="1252728"/>
            <a:ext cx="3657600" cy="34470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0" dirty="0">
                <a:solidFill>
                  <a:schemeClr val="bg2"/>
                </a:solidFill>
                <a:latin typeface="Courier New"/>
              </a:rPr>
              <a:t>app/</a:t>
            </a:r>
          </a:p>
          <a:p>
            <a:pPr algn="l">
              <a:spcAft>
                <a:spcPts val="0"/>
              </a:spcAft>
            </a:pPr>
            <a:r>
              <a:rPr b="0" dirty="0">
                <a:solidFill>
                  <a:schemeClr val="bg2"/>
                </a:solidFill>
                <a:latin typeface="Courier New"/>
              </a:rPr>
              <a:t>  main.py      app, CORS, middleware</a:t>
            </a:r>
          </a:p>
          <a:p>
            <a:pPr algn="l">
              <a:spcAft>
                <a:spcPts val="0"/>
              </a:spcAft>
            </a:pPr>
            <a:r>
              <a:rPr b="0" dirty="0">
                <a:solidFill>
                  <a:schemeClr val="bg2"/>
                </a:solidFill>
                <a:latin typeface="Courier New"/>
              </a:rPr>
              <a:t>  config.py    reads .env</a:t>
            </a:r>
          </a:p>
          <a:p>
            <a:pPr algn="l">
              <a:spcAft>
                <a:spcPts val="0"/>
              </a:spcAft>
            </a:pPr>
            <a:r>
              <a:rPr b="0" dirty="0">
                <a:solidFill>
                  <a:schemeClr val="bg2"/>
                </a:solidFill>
                <a:latin typeface="Courier New"/>
              </a:rPr>
              <a:t>  database.py  engine + session</a:t>
            </a:r>
          </a:p>
          <a:p>
            <a:pPr algn="l">
              <a:spcAft>
                <a:spcPts val="0"/>
              </a:spcAft>
            </a:pPr>
            <a:r>
              <a:rPr b="0" dirty="0">
                <a:solidFill>
                  <a:schemeClr val="bg2"/>
                </a:solidFill>
                <a:latin typeface="Courier New"/>
              </a:rPr>
              <a:t>  models.py    User, Item tables</a:t>
            </a:r>
          </a:p>
          <a:p>
            <a:pPr algn="l">
              <a:spcAft>
                <a:spcPts val="0"/>
              </a:spcAft>
            </a:pPr>
            <a:r>
              <a:rPr b="0" dirty="0">
                <a:solidFill>
                  <a:schemeClr val="bg2"/>
                </a:solidFill>
                <a:latin typeface="Courier New"/>
              </a:rPr>
              <a:t>  schemas.py   </a:t>
            </a:r>
            <a:r>
              <a:rPr b="0" dirty="0" err="1">
                <a:solidFill>
                  <a:schemeClr val="bg2"/>
                </a:solidFill>
                <a:latin typeface="Courier New"/>
              </a:rPr>
              <a:t>Pydantic</a:t>
            </a:r>
            <a:r>
              <a:rPr b="0" dirty="0">
                <a:solidFill>
                  <a:schemeClr val="bg2"/>
                </a:solidFill>
                <a:latin typeface="Courier New"/>
              </a:rPr>
              <a:t> models</a:t>
            </a:r>
          </a:p>
          <a:p>
            <a:pPr algn="l">
              <a:spcAft>
                <a:spcPts val="0"/>
              </a:spcAft>
            </a:pPr>
            <a:r>
              <a:rPr b="0" dirty="0">
                <a:solidFill>
                  <a:schemeClr val="bg2"/>
                </a:solidFill>
                <a:latin typeface="Courier New"/>
              </a:rPr>
              <a:t>  auth.py      hash, JWT, roles</a:t>
            </a:r>
          </a:p>
          <a:p>
            <a:pPr algn="l">
              <a:spcAft>
                <a:spcPts val="0"/>
              </a:spcAft>
            </a:pPr>
            <a:r>
              <a:rPr b="0" dirty="0">
                <a:solidFill>
                  <a:schemeClr val="bg2"/>
                </a:solidFill>
                <a:latin typeface="Courier New"/>
              </a:rPr>
              <a:t>  login_page.py Google button</a:t>
            </a:r>
          </a:p>
          <a:p>
            <a:pPr algn="l">
              <a:spcAft>
                <a:spcPts val="0"/>
              </a:spcAft>
            </a:pPr>
            <a:r>
              <a:rPr b="0" dirty="0">
                <a:solidFill>
                  <a:schemeClr val="bg2"/>
                </a:solidFill>
                <a:latin typeface="Courier New"/>
              </a:rPr>
              <a:t>  routers/</a:t>
            </a:r>
          </a:p>
          <a:p>
            <a:pPr algn="l">
              <a:spcAft>
                <a:spcPts val="0"/>
              </a:spcAft>
            </a:pPr>
            <a:r>
              <a:rPr b="0" dirty="0">
                <a:solidFill>
                  <a:schemeClr val="bg2"/>
                </a:solidFill>
                <a:latin typeface="Courier New"/>
              </a:rPr>
              <a:t>    auth.py  items.py  users.py</a:t>
            </a:r>
          </a:p>
          <a:p>
            <a:pPr algn="l">
              <a:spcAft>
                <a:spcPts val="0"/>
              </a:spcAft>
            </a:pPr>
            <a:r>
              <a:rPr b="0" dirty="0">
                <a:solidFill>
                  <a:schemeClr val="bg2"/>
                </a:solidFill>
                <a:latin typeface="Courier New"/>
              </a:rPr>
              <a:t>alembic/     migrations</a:t>
            </a:r>
          </a:p>
          <a:p>
            <a:pPr algn="l">
              <a:spcAft>
                <a:spcPts val="0"/>
              </a:spcAft>
            </a:pPr>
            <a:r>
              <a:rPr b="0" dirty="0">
                <a:solidFill>
                  <a:schemeClr val="bg2"/>
                </a:solidFill>
                <a:latin typeface="Courier New"/>
              </a:rPr>
              <a:t>tests/       </a:t>
            </a:r>
            <a:r>
              <a:rPr b="0" dirty="0" err="1">
                <a:solidFill>
                  <a:schemeClr val="bg2"/>
                </a:solidFill>
                <a:latin typeface="Courier New"/>
              </a:rPr>
              <a:t>conftest</a:t>
            </a:r>
            <a:r>
              <a:rPr b="0" dirty="0">
                <a:solidFill>
                  <a:schemeClr val="bg2"/>
                </a:solidFill>
                <a:latin typeface="Courier New"/>
              </a:rPr>
              <a:t> + 3 tests</a:t>
            </a:r>
          </a:p>
          <a:p>
            <a:pPr algn="l">
              <a:spcAft>
                <a:spcPts val="0"/>
              </a:spcAft>
            </a:pPr>
            <a:r>
              <a:rPr b="0" dirty="0">
                <a:solidFill>
                  <a:schemeClr val="bg2"/>
                </a:solidFill>
                <a:latin typeface="Courier New"/>
              </a:rPr>
              <a:t>docs/        design docs, Postman</a:t>
            </a:r>
          </a:p>
          <a:p>
            <a:pPr algn="l">
              <a:spcAft>
                <a:spcPts val="0"/>
              </a:spcAft>
            </a:pPr>
            <a:r>
              <a:rPr b="0" dirty="0" err="1">
                <a:solidFill>
                  <a:schemeClr val="bg2"/>
                </a:solidFill>
                <a:latin typeface="Courier New"/>
              </a:rPr>
              <a:t>Dockerfile</a:t>
            </a:r>
            <a:r>
              <a:rPr b="0" dirty="0">
                <a:solidFill>
                  <a:schemeClr val="bg2"/>
                </a:solidFill>
                <a:latin typeface="Courier New"/>
              </a:rPr>
              <a:t>  docker-</a:t>
            </a:r>
            <a:r>
              <a:rPr b="0" dirty="0" err="1">
                <a:solidFill>
                  <a:schemeClr val="bg2"/>
                </a:solidFill>
                <a:latin typeface="Courier New"/>
              </a:rPr>
              <a:t>compose.yml</a:t>
            </a:r>
            <a:endParaRPr b="0" dirty="0">
              <a:solidFill>
                <a:schemeClr val="bg2"/>
              </a:solidFill>
              <a:latin typeface="Courier New"/>
            </a:endParaRPr>
          </a:p>
          <a:p>
            <a:pPr algn="l">
              <a:spcAft>
                <a:spcPts val="0"/>
              </a:spcAft>
            </a:pPr>
            <a:r>
              <a:rPr b="0" dirty="0">
                <a:solidFill>
                  <a:schemeClr val="bg2"/>
                </a:solidFill>
                <a:latin typeface="Courier New"/>
              </a:rPr>
              <a:t>requirements.txt  .</a:t>
            </a:r>
            <a:r>
              <a:rPr b="0" dirty="0" err="1">
                <a:solidFill>
                  <a:schemeClr val="bg2"/>
                </a:solidFill>
                <a:latin typeface="Courier New"/>
              </a:rPr>
              <a:t>env.example</a:t>
            </a:r>
            <a:endParaRPr b="0" dirty="0">
              <a:solidFill>
                <a:schemeClr val="bg2"/>
              </a:solidFill>
              <a:latin typeface="Courier New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6F1342-AE56-54B3-1B70-F9D7AC990A62}"/>
              </a:ext>
            </a:extLst>
          </p:cNvPr>
          <p:cNvSpPr txBox="1"/>
          <p:nvPr/>
        </p:nvSpPr>
        <p:spPr>
          <a:xfrm>
            <a:off x="4590288" y="1280160"/>
            <a:ext cx="405993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587D8"/>
                </a:solidFill>
                <a:latin typeface="Arial"/>
              </a:rPr>
              <a:t>What each part does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797758-6F8F-4ADB-3FE0-AC68969BFE3B}"/>
              </a:ext>
            </a:extLst>
          </p:cNvPr>
          <p:cNvSpPr txBox="1"/>
          <p:nvPr/>
        </p:nvSpPr>
        <p:spPr>
          <a:xfrm>
            <a:off x="4590288" y="1645920"/>
            <a:ext cx="4059935" cy="2031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b="1" dirty="0">
                <a:solidFill>
                  <a:srgbClr val="0C2340"/>
                </a:solidFill>
                <a:latin typeface="Arial"/>
              </a:rPr>
              <a:t>routers/ </a:t>
            </a:r>
            <a:r>
              <a:rPr b="0" dirty="0">
                <a:solidFill>
                  <a:srgbClr val="334055"/>
                </a:solidFill>
                <a:latin typeface="Arial"/>
              </a:rPr>
              <a:t>receive the request, return the response</a:t>
            </a: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rgbClr val="0C2340"/>
                </a:solidFill>
                <a:latin typeface="Arial"/>
              </a:rPr>
              <a:t>schemas.py </a:t>
            </a:r>
            <a:r>
              <a:rPr b="0" dirty="0" err="1">
                <a:solidFill>
                  <a:srgbClr val="334055"/>
                </a:solidFill>
                <a:latin typeface="Arial"/>
              </a:rPr>
              <a:t>Pydantic</a:t>
            </a:r>
            <a:r>
              <a:rPr b="0" dirty="0">
                <a:solidFill>
                  <a:srgbClr val="334055"/>
                </a:solidFill>
                <a:latin typeface="Arial"/>
              </a:rPr>
              <a:t> checks input, shapes output</a:t>
            </a: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rgbClr val="0C2340"/>
                </a:solidFill>
                <a:latin typeface="Arial"/>
              </a:rPr>
              <a:t>auth.py </a:t>
            </a:r>
            <a:r>
              <a:rPr b="0" dirty="0">
                <a:solidFill>
                  <a:srgbClr val="334055"/>
                </a:solidFill>
                <a:latin typeface="Arial"/>
              </a:rPr>
              <a:t>passwords, tokens, who is logged in, roles</a:t>
            </a: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rgbClr val="0C2340"/>
                </a:solidFill>
                <a:latin typeface="Arial"/>
              </a:rPr>
              <a:t>models.py </a:t>
            </a:r>
            <a:r>
              <a:rPr b="0" dirty="0">
                <a:solidFill>
                  <a:srgbClr val="334055"/>
                </a:solidFill>
                <a:latin typeface="Arial"/>
              </a:rPr>
              <a:t>Python classes that map to tables</a:t>
            </a: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rgbClr val="0C2340"/>
                </a:solidFill>
                <a:latin typeface="Arial"/>
              </a:rPr>
              <a:t>database.py </a:t>
            </a:r>
            <a:r>
              <a:rPr b="0" dirty="0">
                <a:solidFill>
                  <a:srgbClr val="334055"/>
                </a:solidFill>
                <a:latin typeface="Arial"/>
              </a:rPr>
              <a:t>connection pool, one session per request</a:t>
            </a: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rgbClr val="0C2340"/>
                </a:solidFill>
                <a:latin typeface="Arial"/>
              </a:rPr>
              <a:t>alembic/ </a:t>
            </a:r>
            <a:r>
              <a:rPr b="0" dirty="0">
                <a:solidFill>
                  <a:srgbClr val="334055"/>
                </a:solidFill>
                <a:latin typeface="Arial"/>
              </a:rPr>
              <a:t>versioned database changes</a:t>
            </a: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rgbClr val="0C2340"/>
                </a:solidFill>
                <a:latin typeface="Arial"/>
              </a:rPr>
              <a:t>docs/ </a:t>
            </a:r>
            <a:r>
              <a:rPr b="0" dirty="0">
                <a:solidFill>
                  <a:srgbClr val="334055"/>
                </a:solidFill>
                <a:latin typeface="Arial"/>
              </a:rPr>
              <a:t>REST, </a:t>
            </a:r>
            <a:r>
              <a:rPr b="0" dirty="0" err="1">
                <a:solidFill>
                  <a:srgbClr val="334055"/>
                </a:solidFill>
                <a:latin typeface="Arial"/>
              </a:rPr>
              <a:t>GraphQL</a:t>
            </a:r>
            <a:r>
              <a:rPr b="0" dirty="0">
                <a:solidFill>
                  <a:srgbClr val="334055"/>
                </a:solidFill>
                <a:latin typeface="Arial"/>
              </a:rPr>
              <a:t>, </a:t>
            </a:r>
            <a:r>
              <a:rPr b="0" dirty="0" err="1">
                <a:solidFill>
                  <a:srgbClr val="334055"/>
                </a:solidFill>
                <a:latin typeface="Arial"/>
              </a:rPr>
              <a:t>gRPC</a:t>
            </a:r>
            <a:r>
              <a:rPr b="0" dirty="0">
                <a:solidFill>
                  <a:srgbClr val="334055"/>
                </a:solidFill>
                <a:latin typeface="Arial"/>
              </a:rPr>
              <a:t>, DB, JWT designs</a:t>
            </a:r>
          </a:p>
        </p:txBody>
      </p:sp>
    </p:spTree>
    <p:extLst>
      <p:ext uri="{BB962C8B-B14F-4D97-AF65-F5344CB8AC3E}">
        <p14:creationId xmlns:p14="http://schemas.microsoft.com/office/powerpoint/2010/main" val="883053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2479D-7FF0-53B4-CD23-0BA934BEA672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2400" dirty="0">
                <a:solidFill>
                  <a:schemeClr val="tx1"/>
                </a:solidFill>
              </a:rPr>
              <a:t>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C0D63A-2108-2A7D-0F75-8430D01F9778}"/>
              </a:ext>
            </a:extLst>
          </p:cNvPr>
          <p:cNvSpPr txBox="1"/>
          <p:nvPr/>
        </p:nvSpPr>
        <p:spPr>
          <a:xfrm>
            <a:off x="310896" y="918246"/>
            <a:ext cx="2011680" cy="530915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dirty="0">
                <a:solidFill>
                  <a:schemeClr val="bg2"/>
                </a:solidFill>
                <a:latin typeface="Arial"/>
              </a:rPr>
              <a:t>Client</a:t>
            </a:r>
          </a:p>
          <a:p>
            <a:pPr algn="ctr">
              <a:spcAft>
                <a:spcPts val="300"/>
              </a:spcAft>
            </a:pPr>
            <a:r>
              <a:rPr sz="1600" b="1" dirty="0">
                <a:solidFill>
                  <a:schemeClr val="bg2"/>
                </a:solidFill>
                <a:latin typeface="Arial"/>
              </a:rPr>
              <a:t>Swagger / Postman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D94AD3-8949-A3D2-74BA-BD38135DF36F}"/>
              </a:ext>
            </a:extLst>
          </p:cNvPr>
          <p:cNvSpPr txBox="1"/>
          <p:nvPr/>
        </p:nvSpPr>
        <p:spPr>
          <a:xfrm>
            <a:off x="6582876" y="836113"/>
            <a:ext cx="2249424" cy="5309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dirty="0">
                <a:solidFill>
                  <a:schemeClr val="bg2"/>
                </a:solidFill>
                <a:latin typeface="Arial"/>
              </a:rPr>
              <a:t>PostgreSQL 15</a:t>
            </a:r>
          </a:p>
          <a:p>
            <a:pPr algn="ctr">
              <a:spcAft>
                <a:spcPts val="300"/>
              </a:spcAft>
            </a:pPr>
            <a:r>
              <a:rPr sz="1600" b="1" dirty="0">
                <a:solidFill>
                  <a:schemeClr val="bg2"/>
                </a:solidFill>
                <a:latin typeface="Arial"/>
              </a:rPr>
              <a:t>port 5435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7B33C0C4-617F-79EA-F322-D3E0ECC80154}"/>
              </a:ext>
            </a:extLst>
          </p:cNvPr>
          <p:cNvSpPr/>
          <p:nvPr/>
        </p:nvSpPr>
        <p:spPr>
          <a:xfrm>
            <a:off x="2377440" y="1000823"/>
            <a:ext cx="731520" cy="365760"/>
          </a:xfrm>
          <a:prstGeom prst="rightArrow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D0CA78-2C6D-5A8C-B8BF-ED886F006E5B}"/>
              </a:ext>
            </a:extLst>
          </p:cNvPr>
          <p:cNvSpPr txBox="1"/>
          <p:nvPr/>
        </p:nvSpPr>
        <p:spPr>
          <a:xfrm>
            <a:off x="2286000" y="1412302"/>
            <a:ext cx="10515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334055"/>
                </a:solidFill>
                <a:latin typeface="Arial"/>
              </a:rPr>
              <a:t>JWT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27A85F2B-CCF3-6025-1296-E5567385DB5D}"/>
              </a:ext>
            </a:extLst>
          </p:cNvPr>
          <p:cNvSpPr/>
          <p:nvPr/>
        </p:nvSpPr>
        <p:spPr>
          <a:xfrm>
            <a:off x="5669280" y="1000823"/>
            <a:ext cx="868680" cy="365760"/>
          </a:xfrm>
          <a:prstGeom prst="rightArrow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1EC804-B9E4-BB8F-6D41-9F5DB5C3EC7B}"/>
              </a:ext>
            </a:extLst>
          </p:cNvPr>
          <p:cNvSpPr txBox="1"/>
          <p:nvPr/>
        </p:nvSpPr>
        <p:spPr>
          <a:xfrm>
            <a:off x="5577840" y="1412302"/>
            <a:ext cx="10515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334055"/>
                </a:solidFill>
                <a:latin typeface="Arial"/>
              </a:rPr>
              <a:t>SQLAlchemy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95ECCA-7674-067F-46CC-B21ABB2F00DE}"/>
              </a:ext>
            </a:extLst>
          </p:cNvPr>
          <p:cNvSpPr txBox="1"/>
          <p:nvPr/>
        </p:nvSpPr>
        <p:spPr>
          <a:xfrm>
            <a:off x="3200400" y="1732343"/>
            <a:ext cx="23774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4055"/>
                </a:solidFill>
                <a:latin typeface="Arial"/>
              </a:rPr>
              <a:t>verifies Google ID token (optional)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D60B6B-D3F8-8C7F-4A64-4E495DD585D5}"/>
              </a:ext>
            </a:extLst>
          </p:cNvPr>
          <p:cNvSpPr txBox="1"/>
          <p:nvPr/>
        </p:nvSpPr>
        <p:spPr>
          <a:xfrm>
            <a:off x="448056" y="2135125"/>
            <a:ext cx="134233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C2340"/>
                </a:solidFill>
                <a:latin typeface="Arial"/>
              </a:rPr>
              <a:t>Routers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B681C9-F1E6-0F37-9E5B-E8B058F137E4}"/>
              </a:ext>
            </a:extLst>
          </p:cNvPr>
          <p:cNvSpPr txBox="1"/>
          <p:nvPr/>
        </p:nvSpPr>
        <p:spPr>
          <a:xfrm>
            <a:off x="448056" y="2409445"/>
            <a:ext cx="1342339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b="0" dirty="0">
                <a:solidFill>
                  <a:srgbClr val="334055"/>
                </a:solidFill>
                <a:latin typeface="Arial"/>
              </a:rPr>
              <a:t>Take request, return response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15D116-D9EB-74C4-2A57-309005DF4643}"/>
              </a:ext>
            </a:extLst>
          </p:cNvPr>
          <p:cNvSpPr txBox="1"/>
          <p:nvPr/>
        </p:nvSpPr>
        <p:spPr>
          <a:xfrm>
            <a:off x="2174443" y="2135125"/>
            <a:ext cx="134233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C2340"/>
                </a:solidFill>
                <a:latin typeface="Arial"/>
              </a:rPr>
              <a:t>Schemas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DDB6DA-61F2-D281-D090-70F20308D52D}"/>
              </a:ext>
            </a:extLst>
          </p:cNvPr>
          <p:cNvSpPr txBox="1"/>
          <p:nvPr/>
        </p:nvSpPr>
        <p:spPr>
          <a:xfrm>
            <a:off x="2174443" y="2409445"/>
            <a:ext cx="1342339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b="0">
                <a:solidFill>
                  <a:srgbClr val="334055"/>
                </a:solidFill>
                <a:latin typeface="Arial"/>
              </a:rPr>
              <a:t>Validate in, shape out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BB8C4EA-19B9-FCF3-1429-F00A723FAA99}"/>
              </a:ext>
            </a:extLst>
          </p:cNvPr>
          <p:cNvSpPr txBox="1"/>
          <p:nvPr/>
        </p:nvSpPr>
        <p:spPr>
          <a:xfrm>
            <a:off x="3900830" y="2135125"/>
            <a:ext cx="134233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C2340"/>
                </a:solidFill>
                <a:latin typeface="Arial"/>
              </a:rPr>
              <a:t>Auth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3ED9DB-4B20-FB75-1E4E-80CCF4DA227F}"/>
              </a:ext>
            </a:extLst>
          </p:cNvPr>
          <p:cNvSpPr txBox="1"/>
          <p:nvPr/>
        </p:nvSpPr>
        <p:spPr>
          <a:xfrm>
            <a:off x="3900830" y="2409445"/>
            <a:ext cx="1342339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b="0">
                <a:solidFill>
                  <a:srgbClr val="334055"/>
                </a:solidFill>
                <a:latin typeface="Arial"/>
              </a:rPr>
              <a:t>Hash, JWT, role checks</a:t>
            </a:r>
          </a:p>
        </p:txBody>
      </p:sp>
      <p:pic>
        <p:nvPicPr>
          <p:cNvPr id="31" name="Picture 30" descr="image.png">
            <a:extLst>
              <a:ext uri="{FF2B5EF4-FFF2-40B4-BE49-F238E27FC236}">
                <a16:creationId xmlns:a16="http://schemas.microsoft.com/office/drawing/2014/main" id="{E35C6774-3052-140F-BD18-A2DFEF98E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513" y="3008375"/>
            <a:ext cx="292608" cy="29260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E4981E2A-2776-28EE-44EC-6772B37425BF}"/>
              </a:ext>
            </a:extLst>
          </p:cNvPr>
          <p:cNvSpPr txBox="1"/>
          <p:nvPr/>
        </p:nvSpPr>
        <p:spPr>
          <a:xfrm>
            <a:off x="5627217" y="2135125"/>
            <a:ext cx="134233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C2340"/>
                </a:solidFill>
                <a:latin typeface="Arial"/>
              </a:rPr>
              <a:t>Models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8651CB-534E-93AF-7A5F-E5C0EB12597C}"/>
              </a:ext>
            </a:extLst>
          </p:cNvPr>
          <p:cNvSpPr txBox="1"/>
          <p:nvPr/>
        </p:nvSpPr>
        <p:spPr>
          <a:xfrm>
            <a:off x="5627217" y="2409445"/>
            <a:ext cx="134233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b="0">
                <a:solidFill>
                  <a:srgbClr val="334055"/>
                </a:solidFill>
                <a:latin typeface="Arial"/>
              </a:rPr>
              <a:t>Classes = tables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46F30F-D15D-9198-DE0F-4E6570CE87D5}"/>
              </a:ext>
            </a:extLst>
          </p:cNvPr>
          <p:cNvSpPr txBox="1"/>
          <p:nvPr/>
        </p:nvSpPr>
        <p:spPr>
          <a:xfrm>
            <a:off x="7353604" y="2135125"/>
            <a:ext cx="134233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C2340"/>
                </a:solidFill>
                <a:latin typeface="Arial"/>
              </a:rPr>
              <a:t>Database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1976DB-E5F6-7402-BE25-A406946B5716}"/>
              </a:ext>
            </a:extLst>
          </p:cNvPr>
          <p:cNvSpPr txBox="1"/>
          <p:nvPr/>
        </p:nvSpPr>
        <p:spPr>
          <a:xfrm>
            <a:off x="7353604" y="2409445"/>
            <a:ext cx="134233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b="0">
                <a:solidFill>
                  <a:srgbClr val="334055"/>
                </a:solidFill>
                <a:latin typeface="Arial"/>
              </a:rPr>
              <a:t>Pool + session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A42CFE3-DF80-A59E-94E6-CB5D5AE82AB9}"/>
              </a:ext>
            </a:extLst>
          </p:cNvPr>
          <p:cNvSpPr txBox="1"/>
          <p:nvPr/>
        </p:nvSpPr>
        <p:spPr>
          <a:xfrm>
            <a:off x="3572161" y="866446"/>
            <a:ext cx="1451038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IN" sz="1600" b="1" dirty="0" err="1">
                <a:solidFill>
                  <a:schemeClr val="bg2"/>
                </a:solidFill>
              </a:rPr>
              <a:t>FastAPI</a:t>
            </a:r>
            <a:r>
              <a:rPr lang="en-IN" sz="1600" b="1" dirty="0">
                <a:solidFill>
                  <a:schemeClr val="bg2"/>
                </a:solidFill>
              </a:rPr>
              <a:t> app</a:t>
            </a:r>
          </a:p>
          <a:p>
            <a:pPr algn="ctr">
              <a:spcAft>
                <a:spcPts val="300"/>
              </a:spcAft>
            </a:pPr>
            <a:r>
              <a:rPr lang="en-IN" sz="1600" b="1" dirty="0">
                <a:solidFill>
                  <a:schemeClr val="bg2"/>
                </a:solidFill>
              </a:rPr>
              <a:t>port 8000</a:t>
            </a:r>
          </a:p>
          <a:p>
            <a:endParaRPr lang="en-IN" sz="1800" dirty="0">
              <a:solidFill>
                <a:schemeClr val="bg2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31DC5D0-EB2C-66C9-C59C-76BA020A0BF7}"/>
              </a:ext>
            </a:extLst>
          </p:cNvPr>
          <p:cNvSpPr txBox="1"/>
          <p:nvPr/>
        </p:nvSpPr>
        <p:spPr>
          <a:xfrm>
            <a:off x="310896" y="3003297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>
                <a:solidFill>
                  <a:schemeClr val="tx1"/>
                </a:solidFill>
              </a:rPr>
              <a:t>Validation (</a:t>
            </a:r>
            <a:r>
              <a:rPr lang="en-IN" sz="2000" dirty="0" err="1">
                <a:solidFill>
                  <a:schemeClr val="tx1"/>
                </a:solidFill>
              </a:rPr>
              <a:t>Pydantic</a:t>
            </a:r>
            <a:r>
              <a:rPr lang="en-IN" sz="20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DFF007-C140-6925-CD7A-197956306338}"/>
              </a:ext>
            </a:extLst>
          </p:cNvPr>
          <p:cNvSpPr txBox="1"/>
          <p:nvPr/>
        </p:nvSpPr>
        <p:spPr>
          <a:xfrm>
            <a:off x="411480" y="3352956"/>
            <a:ext cx="3749039" cy="1733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0C2340"/>
                </a:solidFill>
                <a:latin typeface="Arial"/>
              </a:rPr>
              <a:t>name </a:t>
            </a:r>
            <a:r>
              <a:rPr sz="1600" b="0" dirty="0">
                <a:solidFill>
                  <a:srgbClr val="334055"/>
                </a:solidFill>
                <a:latin typeface="Arial"/>
              </a:rPr>
              <a:t>1 to </a:t>
            </a:r>
            <a:r>
              <a:rPr lang="en-IN" sz="1600" dirty="0">
                <a:solidFill>
                  <a:srgbClr val="334055"/>
                </a:solidFill>
              </a:rPr>
              <a:t>50</a:t>
            </a:r>
            <a:r>
              <a:rPr sz="1600" b="0" dirty="0">
                <a:solidFill>
                  <a:srgbClr val="334055"/>
                </a:solidFill>
                <a:latin typeface="Arial"/>
              </a:rPr>
              <a:t>, trimmed</a:t>
            </a:r>
          </a:p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0C2340"/>
                </a:solidFill>
                <a:latin typeface="Arial"/>
              </a:rPr>
              <a:t>email </a:t>
            </a:r>
            <a:r>
              <a:rPr sz="1600" b="0" dirty="0">
                <a:solidFill>
                  <a:srgbClr val="334055"/>
                </a:solidFill>
                <a:latin typeface="Arial"/>
              </a:rPr>
              <a:t>valid format</a:t>
            </a:r>
          </a:p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0C2340"/>
                </a:solidFill>
                <a:latin typeface="Arial"/>
              </a:rPr>
              <a:t>phone </a:t>
            </a:r>
            <a:r>
              <a:rPr sz="1600" b="0" dirty="0">
                <a:solidFill>
                  <a:srgbClr val="334055"/>
                </a:solidFill>
                <a:latin typeface="Arial"/>
              </a:rPr>
              <a:t>optional, 7 to 15 digits</a:t>
            </a:r>
          </a:p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0C2340"/>
                </a:solidFill>
                <a:latin typeface="Arial"/>
              </a:rPr>
              <a:t>password </a:t>
            </a:r>
            <a:r>
              <a:rPr sz="1600" b="0" dirty="0">
                <a:solidFill>
                  <a:srgbClr val="334055"/>
                </a:solidFill>
                <a:latin typeface="Arial"/>
              </a:rPr>
              <a:t>8 to 64 chars</a:t>
            </a:r>
          </a:p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0C2340"/>
                </a:solidFill>
                <a:latin typeface="Arial"/>
              </a:rPr>
              <a:t>quantity </a:t>
            </a:r>
            <a:r>
              <a:rPr sz="1600" b="0" dirty="0">
                <a:solidFill>
                  <a:srgbClr val="334055"/>
                </a:solidFill>
                <a:latin typeface="Arial"/>
              </a:rPr>
              <a:t>integer &gt;= 0</a:t>
            </a:r>
          </a:p>
          <a:p>
            <a:pPr algn="l">
              <a:spcAft>
                <a:spcPts val="400"/>
              </a:spcAft>
            </a:pPr>
            <a:endParaRPr sz="1600" b="0" dirty="0">
              <a:solidFill>
                <a:srgbClr val="334055"/>
              </a:solidFill>
              <a:latin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6BF941-3E4B-E52C-7110-3CD186EF5A27}"/>
              </a:ext>
            </a:extLst>
          </p:cNvPr>
          <p:cNvSpPr txBox="1"/>
          <p:nvPr/>
        </p:nvSpPr>
        <p:spPr>
          <a:xfrm>
            <a:off x="5160113" y="3008595"/>
            <a:ext cx="18870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rgbClr val="0587D8"/>
                </a:solidFill>
              </a:rPr>
              <a:t>Security</a:t>
            </a:r>
          </a:p>
          <a:p>
            <a:endParaRPr lang="en-IN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6F5E068-41DE-3CE5-032E-CCAC6C7567B0}"/>
              </a:ext>
            </a:extLst>
          </p:cNvPr>
          <p:cNvSpPr txBox="1"/>
          <p:nvPr/>
        </p:nvSpPr>
        <p:spPr>
          <a:xfrm>
            <a:off x="5087771" y="3352951"/>
            <a:ext cx="2763898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IN" sz="1600" b="1" dirty="0">
                <a:solidFill>
                  <a:srgbClr val="1E8E3E"/>
                </a:solidFill>
              </a:rPr>
              <a:t> </a:t>
            </a:r>
            <a:r>
              <a:rPr lang="en-IN" sz="1600" dirty="0" err="1">
                <a:solidFill>
                  <a:srgbClr val="334055"/>
                </a:solidFill>
              </a:rPr>
              <a:t>bcrypt</a:t>
            </a:r>
            <a:r>
              <a:rPr lang="en-IN" sz="1600" dirty="0">
                <a:solidFill>
                  <a:srgbClr val="334055"/>
                </a:solidFill>
              </a:rPr>
              <a:t> password hashes</a:t>
            </a:r>
          </a:p>
          <a:p>
            <a:pPr>
              <a:spcAft>
                <a:spcPts val="400"/>
              </a:spcAft>
            </a:pPr>
            <a:r>
              <a:rPr lang="en-IN" sz="1600" dirty="0">
                <a:solidFill>
                  <a:srgbClr val="334055"/>
                </a:solidFill>
              </a:rPr>
              <a:t> Google never merged (409)</a:t>
            </a:r>
          </a:p>
          <a:p>
            <a:pPr>
              <a:spcAft>
                <a:spcPts val="400"/>
              </a:spcAft>
            </a:pPr>
            <a:r>
              <a:rPr lang="en-IN" sz="1600" dirty="0">
                <a:solidFill>
                  <a:srgbClr val="334055"/>
                </a:solidFill>
              </a:rPr>
              <a:t> Duplicate signup gives 409</a:t>
            </a:r>
          </a:p>
          <a:p>
            <a:pPr>
              <a:spcAft>
                <a:spcPts val="400"/>
              </a:spcAft>
            </a:pPr>
            <a:r>
              <a:rPr lang="en-IN" sz="1600" dirty="0">
                <a:solidFill>
                  <a:srgbClr val="334055"/>
                </a:solidFill>
              </a:rPr>
              <a:t>.env is git-ignored</a:t>
            </a:r>
          </a:p>
        </p:txBody>
      </p:sp>
    </p:spTree>
    <p:extLst>
      <p:ext uri="{BB962C8B-B14F-4D97-AF65-F5344CB8AC3E}">
        <p14:creationId xmlns:p14="http://schemas.microsoft.com/office/powerpoint/2010/main" val="935676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BF130-E2E5-A9C6-B0EB-6607E181282D}"/>
              </a:ext>
            </a:extLst>
          </p:cNvPr>
          <p:cNvSpPr txBox="1">
            <a:spLocks/>
          </p:cNvSpPr>
          <p:nvPr/>
        </p:nvSpPr>
        <p:spPr>
          <a:xfrm>
            <a:off x="312504" y="217966"/>
            <a:ext cx="8520600" cy="572700"/>
          </a:xfrm>
          <a:prstGeom prst="rect">
            <a:avLst/>
          </a:prstGeom>
        </p:spPr>
        <p:txBody>
          <a:bodyPr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2000" dirty="0">
                <a:solidFill>
                  <a:schemeClr val="tx1"/>
                </a:solidFill>
              </a:rPr>
              <a:t>Database design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694A43C-7038-7CE0-7EAC-7C035A0235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0055430"/>
              </p:ext>
            </p:extLst>
          </p:nvPr>
        </p:nvGraphicFramePr>
        <p:xfrm>
          <a:off x="175260" y="597079"/>
          <a:ext cx="4396740" cy="23542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59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0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2485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Arial"/>
                        </a:rPr>
                        <a:t>users</a:t>
                      </a:r>
                    </a:p>
                  </a:txBody>
                  <a:tcPr marL="73152" marR="73152" marT="27432" marB="27432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Arial"/>
                        </a:rPr>
                        <a:t>Type / rule</a:t>
                      </a:r>
                    </a:p>
                  </a:txBody>
                  <a:tcPr marL="73152" marR="73152" marT="27432" marB="27432" anchor="ctr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95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INTEGER, PK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95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name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34055"/>
                          </a:solidFill>
                          <a:latin typeface="Arial"/>
                        </a:rPr>
                        <a:t>VARCHAR(</a:t>
                      </a:r>
                      <a:r>
                        <a:rPr lang="en-IN" sz="1050" b="0" dirty="0">
                          <a:solidFill>
                            <a:srgbClr val="334055"/>
                          </a:solidFill>
                          <a:latin typeface="Arial"/>
                        </a:rPr>
                        <a:t>25</a:t>
                      </a:r>
                      <a:r>
                        <a:rPr sz="1050" b="0" dirty="0">
                          <a:solidFill>
                            <a:srgbClr val="334055"/>
                          </a:solidFill>
                          <a:latin typeface="Arial"/>
                        </a:rPr>
                        <a:t>), required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695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email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34055"/>
                          </a:solidFill>
                          <a:latin typeface="Arial"/>
                        </a:rPr>
                        <a:t>VARCHAR(</a:t>
                      </a:r>
                      <a:r>
                        <a:rPr lang="en-IN" sz="1050" b="0" dirty="0">
                          <a:solidFill>
                            <a:srgbClr val="334055"/>
                          </a:solidFill>
                          <a:latin typeface="Arial"/>
                        </a:rPr>
                        <a:t>50</a:t>
                      </a:r>
                      <a:r>
                        <a:rPr sz="1050" b="0" dirty="0">
                          <a:solidFill>
                            <a:srgbClr val="334055"/>
                          </a:solidFill>
                          <a:latin typeface="Arial"/>
                        </a:rPr>
                        <a:t>), UNIQUE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95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phone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34055"/>
                          </a:solidFill>
                          <a:latin typeface="Arial"/>
                        </a:rPr>
                        <a:t>VARCHAR(20), optional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95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password_hash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NULL for Google users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695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34055"/>
                          </a:solidFill>
                          <a:latin typeface="Arial"/>
                        </a:rPr>
                        <a:t>admin / manager / staff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6BF4DF-F1E0-053D-635F-F199E6971C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191665"/>
              </p:ext>
            </p:extLst>
          </p:nvPr>
        </p:nvGraphicFramePr>
        <p:xfrm>
          <a:off x="5198448" y="597079"/>
          <a:ext cx="3055536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9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8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items</a:t>
                      </a:r>
                    </a:p>
                  </a:txBody>
                  <a:tcPr marL="73152" marR="73152" marT="27432" marB="27432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Type / rule</a:t>
                      </a:r>
                    </a:p>
                  </a:txBody>
                  <a:tcPr marL="73152" marR="73152" marT="27432" marB="27432" anchor="ctr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0C2340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34055"/>
                          </a:solidFill>
                          <a:latin typeface="Arial"/>
                        </a:rPr>
                        <a:t>INTEGER, PK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name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34055"/>
                          </a:solidFill>
                          <a:latin typeface="Arial"/>
                        </a:rPr>
                        <a:t>VARCHAR(</a:t>
                      </a:r>
                      <a:r>
                        <a:rPr lang="en-IN" sz="1050" b="0" dirty="0">
                          <a:solidFill>
                            <a:srgbClr val="334055"/>
                          </a:solidFill>
                          <a:latin typeface="Arial"/>
                        </a:rPr>
                        <a:t>50</a:t>
                      </a:r>
                      <a:r>
                        <a:rPr sz="1050" b="0" dirty="0">
                          <a:solidFill>
                            <a:srgbClr val="334055"/>
                          </a:solidFill>
                          <a:latin typeface="Arial"/>
                        </a:rPr>
                        <a:t>), indexed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quantity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INTEGER, &gt;= 0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price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NUMERIC(10,2)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created_by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34055"/>
                          </a:solidFill>
                          <a:latin typeface="Arial"/>
                        </a:rPr>
                        <a:t>FK to users.id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757F16E-B0E8-ABAA-F34F-0738C084F797}"/>
              </a:ext>
            </a:extLst>
          </p:cNvPr>
          <p:cNvSpPr txBox="1"/>
          <p:nvPr/>
        </p:nvSpPr>
        <p:spPr>
          <a:xfrm>
            <a:off x="4984367" y="2727115"/>
            <a:ext cx="8156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IN" sz="1400" b="1" dirty="0">
                <a:solidFill>
                  <a:srgbClr val="0587D8"/>
                </a:solidFill>
                <a:latin typeface="Arial"/>
              </a:rPr>
              <a:t>Keys and relations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CEE1BD-7176-83FD-13CB-01FD1B2763B2}"/>
              </a:ext>
            </a:extLst>
          </p:cNvPr>
          <p:cNvSpPr txBox="1"/>
          <p:nvPr/>
        </p:nvSpPr>
        <p:spPr>
          <a:xfrm>
            <a:off x="4984367" y="2985505"/>
            <a:ext cx="3269617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dirty="0">
                <a:solidFill>
                  <a:srgbClr val="1E8E3E"/>
                </a:solidFill>
                <a:latin typeface="Arial"/>
              </a:rPr>
              <a:t> </a:t>
            </a:r>
            <a:r>
              <a:rPr sz="1100" b="0" dirty="0">
                <a:solidFill>
                  <a:srgbClr val="334055"/>
                </a:solidFill>
                <a:latin typeface="Arial"/>
              </a:rPr>
              <a:t>One user creates many items (</a:t>
            </a:r>
            <a:r>
              <a:rPr sz="1100" b="0" dirty="0" err="1">
                <a:solidFill>
                  <a:srgbClr val="334055"/>
                </a:solidFill>
                <a:latin typeface="Arial"/>
              </a:rPr>
              <a:t>items.created_by</a:t>
            </a:r>
            <a:r>
              <a:rPr sz="1100" b="0" dirty="0">
                <a:solidFill>
                  <a:srgbClr val="334055"/>
                </a:solidFill>
                <a:latin typeface="Arial"/>
              </a:rPr>
              <a:t> to users.id). A user who has items cannot be deleted.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D3A276-6E0E-F360-1698-F0668897175B}"/>
              </a:ext>
            </a:extLst>
          </p:cNvPr>
          <p:cNvSpPr txBox="1"/>
          <p:nvPr/>
        </p:nvSpPr>
        <p:spPr>
          <a:xfrm>
            <a:off x="310896" y="3016282"/>
            <a:ext cx="19960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Roles and permissions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ACD7FE-29A9-478C-2AF0-C491C5926D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68077"/>
              </p:ext>
            </p:extLst>
          </p:nvPr>
        </p:nvGraphicFramePr>
        <p:xfrm>
          <a:off x="310896" y="3346456"/>
          <a:ext cx="4504170" cy="164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4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15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8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29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554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73152" marR="73152" marT="27432" marB="27432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staff</a:t>
                      </a:r>
                    </a:p>
                  </a:txBody>
                  <a:tcPr marL="73152" marR="73152" marT="27432" marB="27432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manager</a:t>
                      </a:r>
                    </a:p>
                  </a:txBody>
                  <a:tcPr marL="73152" marR="73152" marT="27432" marB="27432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545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C2340"/>
                          </a:solidFill>
                          <a:latin typeface="Arial"/>
                        </a:rPr>
                        <a:t>Sign up / log in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E8E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E8E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E8E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545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C2340"/>
                          </a:solidFill>
                          <a:latin typeface="Arial"/>
                        </a:rPr>
                        <a:t>Create and read items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E8E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E8E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E8E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545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C2340"/>
                          </a:solidFill>
                          <a:latin typeface="Arial"/>
                        </a:rPr>
                        <a:t>Update own items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E8E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E8E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E8E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545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C2340"/>
                          </a:solidFill>
                          <a:latin typeface="Arial"/>
                        </a:rPr>
                        <a:t>Update any item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4055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E8E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E8E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545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C2340"/>
                          </a:solidFill>
                          <a:latin typeface="Arial"/>
                        </a:rPr>
                        <a:t>Delete items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4055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E8E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E8E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545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C2340"/>
                          </a:solidFill>
                          <a:latin typeface="Arial"/>
                        </a:rPr>
                        <a:t>List users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4055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4055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E8E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545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C2340"/>
                          </a:solidFill>
                          <a:latin typeface="Arial"/>
                        </a:rPr>
                        <a:t>Change a user role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4055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4055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1E8E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C390DB49-ED57-F039-9D4F-71758158B3EC}"/>
              </a:ext>
            </a:extLst>
          </p:cNvPr>
          <p:cNvSpPr txBox="1"/>
          <p:nvPr/>
        </p:nvSpPr>
        <p:spPr>
          <a:xfrm>
            <a:off x="4912791" y="3853923"/>
            <a:ext cx="342800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C2340"/>
                </a:solidFill>
              </a:rPr>
              <a:t>staff: </a:t>
            </a:r>
            <a:r>
              <a:rPr lang="en-US" dirty="0">
                <a:solidFill>
                  <a:srgbClr val="334055"/>
                </a:solidFill>
              </a:rPr>
              <a:t>default for everyone.  </a:t>
            </a:r>
            <a:r>
              <a:rPr lang="en-US" b="1" dirty="0">
                <a:solidFill>
                  <a:srgbClr val="0C2340"/>
                </a:solidFill>
              </a:rPr>
              <a:t>manager: </a:t>
            </a:r>
            <a:r>
              <a:rPr lang="en-US" dirty="0">
                <a:solidFill>
                  <a:srgbClr val="334055"/>
                </a:solidFill>
              </a:rPr>
              <a:t>promoted by admin with PATCH /users/{id}/role.  </a:t>
            </a:r>
            <a:r>
              <a:rPr lang="en-US" b="1" dirty="0">
                <a:solidFill>
                  <a:srgbClr val="0C2340"/>
                </a:solidFill>
              </a:rPr>
              <a:t>admin: </a:t>
            </a:r>
            <a:r>
              <a:rPr lang="en-US" dirty="0">
                <a:solidFill>
                  <a:srgbClr val="334055"/>
                </a:solidFill>
              </a:rPr>
              <a:t>only one, created from ADMIN_EMAIL and ADMIN_PASSWORD in .env.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33498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A5AA8C-5882-ED5A-EC3A-95F70AC85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8739"/>
            <a:ext cx="9144000" cy="4506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686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35E44-5C17-66A1-544A-A497044057BB}"/>
              </a:ext>
            </a:extLst>
          </p:cNvPr>
          <p:cNvSpPr txBox="1">
            <a:spLocks/>
          </p:cNvSpPr>
          <p:nvPr/>
        </p:nvSpPr>
        <p:spPr>
          <a:xfrm>
            <a:off x="313308" y="243402"/>
            <a:ext cx="8520600" cy="572700"/>
          </a:xfrm>
          <a:prstGeom prst="rect">
            <a:avLst/>
          </a:prstGeom>
        </p:spPr>
        <p:txBody>
          <a:bodyPr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2000" dirty="0">
                <a:solidFill>
                  <a:schemeClr val="tx1"/>
                </a:solidFill>
              </a:rPr>
              <a:t>API endpoints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A4168DC-D9CA-79D1-78E3-4A094A99E9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382432"/>
              </p:ext>
            </p:extLst>
          </p:nvPr>
        </p:nvGraphicFramePr>
        <p:xfrm>
          <a:off x="310092" y="639799"/>
          <a:ext cx="785006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2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37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1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48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023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marT="27432" marB="27432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Arial"/>
                        </a:rPr>
                        <a:t>URL</a:t>
                      </a:r>
                    </a:p>
                  </a:txBody>
                  <a:tcPr marL="73152" marR="73152" marT="27432" marB="27432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marT="27432" marB="27432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OK</a:t>
                      </a:r>
                    </a:p>
                  </a:txBody>
                  <a:tcPr marL="73152" marR="73152" marT="27432" marB="27432" anchor="ctr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23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/health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23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/auth/signup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23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/auth/login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23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/auth/google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public (Google page)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23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/items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any logged-in user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023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/items?page&amp;limit&amp;search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any logged-in user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023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/items/{id}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any logged-in user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023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PUT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/items/{id}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staff (own), manager, 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023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DELETE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/items/{id}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manager, admin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023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/users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023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C2340"/>
                          </a:solidFill>
                          <a:latin typeface="Arial"/>
                        </a:rPr>
                        <a:t>PATCH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34055"/>
                          </a:solidFill>
                          <a:latin typeface="Arial"/>
                        </a:rPr>
                        <a:t>/users/{id}/role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34055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34055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80DD032-2E8B-6415-1869-7C96A46912A0}"/>
              </a:ext>
            </a:extLst>
          </p:cNvPr>
          <p:cNvSpPr txBox="1"/>
          <p:nvPr/>
        </p:nvSpPr>
        <p:spPr>
          <a:xfrm>
            <a:off x="310092" y="3218407"/>
            <a:ext cx="14478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Tests: 3 passed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3B6043-F60A-3E45-4B12-7819A12A46A1}"/>
              </a:ext>
            </a:extLst>
          </p:cNvPr>
          <p:cNvSpPr txBox="1"/>
          <p:nvPr/>
        </p:nvSpPr>
        <p:spPr>
          <a:xfrm>
            <a:off x="3009418" y="4282633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BE35928-AE27-81DA-50D5-C32B50ADD3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7021303"/>
              </p:ext>
            </p:extLst>
          </p:nvPr>
        </p:nvGraphicFramePr>
        <p:xfrm>
          <a:off x="311700" y="3526184"/>
          <a:ext cx="8522208" cy="1177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04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279">
                <a:tc>
                  <a:txBody>
                    <a:bodyPr/>
                    <a:lstStyle/>
                    <a:p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marL="73152" marR="73152" marT="27432" marB="27432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What it proves</a:t>
                      </a:r>
                    </a:p>
                  </a:txBody>
                  <a:tcPr marL="73152" marR="73152" marT="27432" marB="27432" anchor="ctr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27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C2340"/>
                          </a:solidFill>
                          <a:latin typeface="Arial"/>
                        </a:rPr>
                        <a:t>test_signup_and_login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34055"/>
                          </a:solidFill>
                          <a:latin typeface="Arial"/>
                        </a:rPr>
                        <a:t>201 signup, 409 duplicate email, token on login, 401 wrong password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427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C2340"/>
                          </a:solidFill>
                          <a:latin typeface="Arial"/>
                        </a:rPr>
                        <a:t>test_item_crud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34055"/>
                          </a:solidFill>
                          <a:latin typeface="Arial"/>
                        </a:rPr>
                        <a:t>401 without token, create / read / update, 422 for negative quantity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27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C2340"/>
                          </a:solidFill>
                          <a:latin typeface="Arial"/>
                        </a:rPr>
                        <a:t>test_roles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34055"/>
                          </a:solidFill>
                          <a:latin typeface="Arial"/>
                        </a:rPr>
                        <a:t>staff delete gives 403, admin delete gives 204</a:t>
                      </a:r>
                    </a:p>
                  </a:txBody>
                  <a:tcPr marL="73152" marR="73152" marT="27432" marB="27432" anchor="ctr">
                    <a:solidFill>
                      <a:srgbClr val="EA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6245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3F032-8256-4880-5AC6-B07A6BF8AD55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1800" dirty="0">
                <a:solidFill>
                  <a:schemeClr val="tx1"/>
                </a:solidFill>
              </a:rPr>
              <a:t>Google Sign-In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BB53E8-E1FF-D065-CEEA-53CFADEA7D4E}"/>
              </a:ext>
            </a:extLst>
          </p:cNvPr>
          <p:cNvSpPr txBox="1"/>
          <p:nvPr/>
        </p:nvSpPr>
        <p:spPr>
          <a:xfrm>
            <a:off x="448061" y="827703"/>
            <a:ext cx="899769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C2340"/>
                </a:solidFill>
                <a:latin typeface="Arial"/>
              </a:rPr>
              <a:t>Open /login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02F584-43C7-3A1D-DC73-1D464BA557F1}"/>
              </a:ext>
            </a:extLst>
          </p:cNvPr>
          <p:cNvSpPr txBox="1"/>
          <p:nvPr/>
        </p:nvSpPr>
        <p:spPr>
          <a:xfrm>
            <a:off x="372011" y="1467756"/>
            <a:ext cx="1356969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b="0" dirty="0">
                <a:solidFill>
                  <a:srgbClr val="334055"/>
                </a:solidFill>
                <a:latin typeface="Arial"/>
              </a:rPr>
              <a:t>Page shows the Google button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0D5526-4AA2-8A2A-8F30-8958F91E7408}"/>
              </a:ext>
            </a:extLst>
          </p:cNvPr>
          <p:cNvSpPr txBox="1"/>
          <p:nvPr/>
        </p:nvSpPr>
        <p:spPr>
          <a:xfrm>
            <a:off x="2170788" y="977016"/>
            <a:ext cx="899769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C2340"/>
                </a:solidFill>
                <a:latin typeface="Arial"/>
              </a:rPr>
              <a:t>Google token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9BA9DB-98D1-6B0E-95DD-C556C814F19B}"/>
              </a:ext>
            </a:extLst>
          </p:cNvPr>
          <p:cNvSpPr txBox="1"/>
          <p:nvPr/>
        </p:nvSpPr>
        <p:spPr>
          <a:xfrm>
            <a:off x="1942187" y="1467756"/>
            <a:ext cx="1356969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b="0">
                <a:solidFill>
                  <a:srgbClr val="334055"/>
                </a:solidFill>
                <a:latin typeface="Arial"/>
              </a:rPr>
              <a:t>User signs in, Google returns an ID token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D2B1AE-D38A-0E72-92E1-3C29B59B5FD2}"/>
              </a:ext>
            </a:extLst>
          </p:cNvPr>
          <p:cNvSpPr txBox="1"/>
          <p:nvPr/>
        </p:nvSpPr>
        <p:spPr>
          <a:xfrm>
            <a:off x="3893515" y="942499"/>
            <a:ext cx="899769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C2340"/>
                </a:solidFill>
                <a:latin typeface="Arial"/>
              </a:rPr>
              <a:t>Send token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95C340-5D7E-9505-0893-F0CA9D3FC867}"/>
              </a:ext>
            </a:extLst>
          </p:cNvPr>
          <p:cNvSpPr txBox="1"/>
          <p:nvPr/>
        </p:nvSpPr>
        <p:spPr>
          <a:xfrm>
            <a:off x="3844900" y="1467756"/>
            <a:ext cx="1356969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b="0">
                <a:solidFill>
                  <a:srgbClr val="334055"/>
                </a:solidFill>
                <a:latin typeface="Arial"/>
              </a:rPr>
              <a:t>Browser posts the id_token to /auth/google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CAD26E-E7EA-8ABE-F39B-A81EEDC95133}"/>
              </a:ext>
            </a:extLst>
          </p:cNvPr>
          <p:cNvSpPr txBox="1"/>
          <p:nvPr/>
        </p:nvSpPr>
        <p:spPr>
          <a:xfrm>
            <a:off x="5585635" y="1014155"/>
            <a:ext cx="899769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C2340"/>
                </a:solidFill>
                <a:latin typeface="Arial"/>
              </a:rPr>
              <a:t>Verify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526DAF-0216-6F35-F61D-0841557016ED}"/>
              </a:ext>
            </a:extLst>
          </p:cNvPr>
          <p:cNvSpPr txBox="1"/>
          <p:nvPr/>
        </p:nvSpPr>
        <p:spPr>
          <a:xfrm>
            <a:off x="5544016" y="1467756"/>
            <a:ext cx="1356969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b="0" dirty="0">
                <a:solidFill>
                  <a:srgbClr val="334055"/>
                </a:solidFill>
                <a:latin typeface="Arial"/>
              </a:rPr>
              <a:t>Server checks signature, expiry and client id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0DC4A0-664A-FE67-9DB0-A4CB5997CF81}"/>
              </a:ext>
            </a:extLst>
          </p:cNvPr>
          <p:cNvSpPr txBox="1"/>
          <p:nvPr/>
        </p:nvSpPr>
        <p:spPr>
          <a:xfrm>
            <a:off x="7555998" y="1014155"/>
            <a:ext cx="899769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C2340"/>
                </a:solidFill>
                <a:latin typeface="Arial"/>
              </a:rPr>
              <a:t>Our JWT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D7B147-6B3A-DC57-B6F1-747F424D6902}"/>
              </a:ext>
            </a:extLst>
          </p:cNvPr>
          <p:cNvSpPr txBox="1"/>
          <p:nvPr/>
        </p:nvSpPr>
        <p:spPr>
          <a:xfrm>
            <a:off x="7327399" y="1467756"/>
            <a:ext cx="1356969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b="0" dirty="0">
                <a:solidFill>
                  <a:srgbClr val="334055"/>
                </a:solidFill>
                <a:latin typeface="Arial"/>
              </a:rPr>
              <a:t>User found or created as staff, JWT returned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B4C53E5D-6E28-F09E-C19C-4ADA77D8F478}"/>
              </a:ext>
            </a:extLst>
          </p:cNvPr>
          <p:cNvSpPr txBox="1">
            <a:spLocks/>
          </p:cNvSpPr>
          <p:nvPr/>
        </p:nvSpPr>
        <p:spPr>
          <a:xfrm>
            <a:off x="306763" y="2321467"/>
            <a:ext cx="8520600" cy="572700"/>
          </a:xfrm>
          <a:prstGeom prst="rect">
            <a:avLst/>
          </a:prstGeom>
        </p:spPr>
        <p:txBody>
          <a:bodyPr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1800" dirty="0">
                <a:solidFill>
                  <a:schemeClr val="tx1"/>
                </a:solidFill>
              </a:rPr>
              <a:t>Signup, login and JWT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9ED3C6-3760-6C34-E3C5-995698AC8BCE}"/>
              </a:ext>
            </a:extLst>
          </p:cNvPr>
          <p:cNvSpPr txBox="1"/>
          <p:nvPr/>
        </p:nvSpPr>
        <p:spPr>
          <a:xfrm>
            <a:off x="900319" y="3307812"/>
            <a:ext cx="19994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C2340"/>
                </a:solidFill>
                <a:latin typeface="Arial"/>
              </a:rPr>
              <a:t>Signup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1FAC80-7C75-1C31-ADD3-9CA5070DE437}"/>
              </a:ext>
            </a:extLst>
          </p:cNvPr>
          <p:cNvSpPr txBox="1"/>
          <p:nvPr/>
        </p:nvSpPr>
        <p:spPr>
          <a:xfrm>
            <a:off x="443119" y="3732674"/>
            <a:ext cx="2456688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b="0" dirty="0">
                <a:solidFill>
                  <a:srgbClr val="334055"/>
                </a:solidFill>
                <a:latin typeface="Arial"/>
              </a:rPr>
              <a:t>Password hashed with </a:t>
            </a:r>
            <a:r>
              <a:rPr b="0" dirty="0" err="1">
                <a:solidFill>
                  <a:srgbClr val="334055"/>
                </a:solidFill>
                <a:latin typeface="Arial"/>
              </a:rPr>
              <a:t>bcrypt</a:t>
            </a:r>
            <a:r>
              <a:rPr b="0" dirty="0">
                <a:solidFill>
                  <a:srgbClr val="334055"/>
                </a:solidFill>
                <a:latin typeface="Arial"/>
              </a:rPr>
              <a:t>. Role is staff. A background task logs a welcome message.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7ECC2B-FC62-4791-4179-E318DEACDE92}"/>
              </a:ext>
            </a:extLst>
          </p:cNvPr>
          <p:cNvSpPr txBox="1"/>
          <p:nvPr/>
        </p:nvSpPr>
        <p:spPr>
          <a:xfrm>
            <a:off x="3795919" y="3307812"/>
            <a:ext cx="19994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C2340"/>
                </a:solidFill>
                <a:latin typeface="Arial"/>
              </a:rPr>
              <a:t>Login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1F473B-6C83-9570-01CC-AC3776294CD3}"/>
              </a:ext>
            </a:extLst>
          </p:cNvPr>
          <p:cNvSpPr txBox="1"/>
          <p:nvPr/>
        </p:nvSpPr>
        <p:spPr>
          <a:xfrm>
            <a:off x="3338719" y="3732674"/>
            <a:ext cx="245668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b="0" dirty="0">
                <a:solidFill>
                  <a:srgbClr val="334055"/>
                </a:solidFill>
                <a:latin typeface="Arial"/>
              </a:rPr>
              <a:t>Email found, hash checked.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6C8788-34A1-7499-EB21-FFE6E63F60E4}"/>
              </a:ext>
            </a:extLst>
          </p:cNvPr>
          <p:cNvSpPr txBox="1"/>
          <p:nvPr/>
        </p:nvSpPr>
        <p:spPr>
          <a:xfrm>
            <a:off x="6691519" y="3307812"/>
            <a:ext cx="19994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C2340"/>
                </a:solidFill>
                <a:latin typeface="Arial"/>
              </a:rPr>
              <a:t>Use token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238ABB-7DC3-5C14-1DD6-52E864702C23}"/>
              </a:ext>
            </a:extLst>
          </p:cNvPr>
          <p:cNvSpPr txBox="1"/>
          <p:nvPr/>
        </p:nvSpPr>
        <p:spPr>
          <a:xfrm>
            <a:off x="6234319" y="3732674"/>
            <a:ext cx="2456688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b="0" dirty="0">
                <a:solidFill>
                  <a:srgbClr val="334055"/>
                </a:solidFill>
                <a:latin typeface="Arial"/>
              </a:rPr>
              <a:t>Send Authorization: Bearer token. Valid for 60 minutes.</a:t>
            </a:r>
          </a:p>
        </p:txBody>
      </p:sp>
    </p:spTree>
    <p:extLst>
      <p:ext uri="{BB962C8B-B14F-4D97-AF65-F5344CB8AC3E}">
        <p14:creationId xmlns:p14="http://schemas.microsoft.com/office/powerpoint/2010/main" val="1726578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33EFD-CD39-0B5A-0635-2D3432C83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12421011"/>
      </p:ext>
    </p:extLst>
  </p:cSld>
  <p:clrMapOvr>
    <a:masterClrMapping/>
  </p:clrMapOvr>
</p:sld>
</file>

<file path=ppt/theme/theme1.xml><?xml version="1.0" encoding="utf-8"?>
<a:theme xmlns:a="http://schemas.openxmlformats.org/drawingml/2006/main" name="Revel Labs">
  <a:themeElements>
    <a:clrScheme name="Simple Light">
      <a:dk1>
        <a:srgbClr val="0086D6"/>
      </a:dk1>
      <a:lt1>
        <a:srgbClr val="FFFFFF"/>
      </a:lt1>
      <a:dk2>
        <a:srgbClr val="000000"/>
      </a:dk2>
      <a:lt2>
        <a:srgbClr val="EEEEEE"/>
      </a:lt2>
      <a:accent1>
        <a:srgbClr val="62B5E5"/>
      </a:accent1>
      <a:accent2>
        <a:srgbClr val="00A3E0"/>
      </a:accent2>
      <a:accent3>
        <a:srgbClr val="0C2340"/>
      </a:accent3>
      <a:accent4>
        <a:srgbClr val="C8C9C7"/>
      </a:accent4>
      <a:accent5>
        <a:srgbClr val="888B8D"/>
      </a:accent5>
      <a:accent6>
        <a:srgbClr val="333F48"/>
      </a:accent6>
      <a:hlink>
        <a:srgbClr val="FE5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629</TotalTime>
  <Words>1084</Words>
  <Application>Microsoft Office PowerPoint</Application>
  <PresentationFormat>On-screen Show (16:9)</PresentationFormat>
  <Paragraphs>261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Times New Roman</vt:lpstr>
      <vt:lpstr>Open Sans</vt:lpstr>
      <vt:lpstr>Arial</vt:lpstr>
      <vt:lpstr>Wingdings</vt:lpstr>
      <vt:lpstr>Courier New</vt:lpstr>
      <vt:lpstr>Montserrat</vt:lpstr>
      <vt:lpstr>Revel Labs</vt:lpstr>
      <vt:lpstr>Inventory Service</vt:lpstr>
      <vt:lpstr>Agenda</vt:lpstr>
      <vt:lpstr>Project overview</vt:lpstr>
      <vt:lpstr>M4 requirements: all delivered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windows11</dc:creator>
  <cp:lastModifiedBy>Rudra Sharma</cp:lastModifiedBy>
  <cp:revision>4</cp:revision>
  <dcterms:modified xsi:type="dcterms:W3CDTF">2026-10-08T08:57:01Z</dcterms:modified>
</cp:coreProperties>
</file>